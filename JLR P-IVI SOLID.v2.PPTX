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62" r:id="rId3"/>
    <p:sldId id="257" r:id="rId4"/>
    <p:sldId id="258" r:id="rId5"/>
    <p:sldId id="259" r:id="rId6"/>
    <p:sldId id="260" r:id="rId7"/>
    <p:sldId id="261" r:id="rId8"/>
    <p:sldId id="278" r:id="rId9"/>
    <p:sldId id="263" r:id="rId10"/>
    <p:sldId id="279" r:id="rId11"/>
    <p:sldId id="264" r:id="rId12"/>
    <p:sldId id="265" r:id="rId13"/>
    <p:sldId id="266" r:id="rId14"/>
    <p:sldId id="267" r:id="rId15"/>
    <p:sldId id="280" r:id="rId16"/>
    <p:sldId id="268" r:id="rId17"/>
    <p:sldId id="269" r:id="rId18"/>
    <p:sldId id="270" r:id="rId19"/>
    <p:sldId id="281" r:id="rId20"/>
    <p:sldId id="282" r:id="rId21"/>
    <p:sldId id="286" r:id="rId22"/>
    <p:sldId id="283" r:id="rId23"/>
    <p:sldId id="271" r:id="rId24"/>
    <p:sldId id="272" r:id="rId25"/>
    <p:sldId id="273" r:id="rId26"/>
    <p:sldId id="287" r:id="rId27"/>
    <p:sldId id="284" r:id="rId28"/>
    <p:sldId id="274" r:id="rId29"/>
    <p:sldId id="275" r:id="rId30"/>
    <p:sldId id="276" r:id="rId31"/>
    <p:sldId id="288" r:id="rId32"/>
    <p:sldId id="285" r:id="rId33"/>
    <p:sldId id="27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34" autoAdjust="0"/>
  </p:normalViewPr>
  <p:slideViewPr>
    <p:cSldViewPr snapToGrid="0">
      <p:cViewPr varScale="1">
        <p:scale>
          <a:sx n="80" d="100"/>
          <a:sy n="80" d="100"/>
        </p:scale>
        <p:origin x="7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1" Type="http://schemas.openxmlformats.org/officeDocument/2006/relationships/hyperlink" Target="https://scotch.io/bar-talk/s-o-l-i-d-the-first-five-principles-of-object-oriented-design#toc-conclusion"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BB09E8-BE43-4CD3-8F75-AC203E927FB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16F70F5-E76F-48C5-881E-3906C94A5EC4}">
      <dgm:prSet phldrT="[Text]"/>
      <dgm:spPr/>
      <dgm:t>
        <a:bodyPr/>
        <a:lstStyle/>
        <a:p>
          <a:r>
            <a:rPr lang="en-US" b="0" i="0" dirty="0" smtClean="0">
              <a:hlinkClick xmlns:r="http://schemas.openxmlformats.org/officeDocument/2006/relationships" r:id="rId1"/>
            </a:rPr>
            <a:t>Conclusion</a:t>
          </a:r>
          <a:endParaRPr lang="en-US" dirty="0"/>
        </a:p>
      </dgm:t>
    </dgm:pt>
    <dgm:pt modelId="{BAE8F677-1B60-4709-93F6-23C66321D611}" type="parTrans" cxnId="{D690EC5A-26AA-4D66-AD3D-11ACC060E5D0}">
      <dgm:prSet/>
      <dgm:spPr/>
      <dgm:t>
        <a:bodyPr/>
        <a:lstStyle/>
        <a:p>
          <a:endParaRPr lang="en-US"/>
        </a:p>
      </dgm:t>
    </dgm:pt>
    <dgm:pt modelId="{06C3DB56-64D0-4481-8C3A-6E18940E16BA}" type="sibTrans" cxnId="{D690EC5A-26AA-4D66-AD3D-11ACC060E5D0}">
      <dgm:prSet/>
      <dgm:spPr/>
      <dgm:t>
        <a:bodyPr/>
        <a:lstStyle/>
        <a:p>
          <a:endParaRPr lang="en-US"/>
        </a:p>
      </dgm:t>
    </dgm:pt>
    <dgm:pt modelId="{2123EF7C-F651-445E-B5E5-0E5F518D3227}">
      <dgm:prSet phldrT="[Text]"/>
      <dgm:spPr/>
      <dgm:t>
        <a:bodyPr/>
        <a:lstStyle/>
        <a:p>
          <a:r>
            <a:rPr lang="en-US" b="0" i="0" dirty="0" smtClean="0"/>
            <a:t>Overview</a:t>
          </a:r>
          <a:endParaRPr lang="en-US" b="0" i="0" dirty="0"/>
        </a:p>
      </dgm:t>
    </dgm:pt>
    <dgm:pt modelId="{79B84FD0-2E9D-4902-A141-D2661B0525E9}" type="parTrans" cxnId="{3367D182-1CEE-4CD6-8F05-07191BC62457}">
      <dgm:prSet/>
      <dgm:spPr/>
      <dgm:t>
        <a:bodyPr/>
        <a:lstStyle/>
        <a:p>
          <a:endParaRPr lang="en-US"/>
        </a:p>
      </dgm:t>
    </dgm:pt>
    <dgm:pt modelId="{4A7B8821-E5CB-48DD-BCDF-9CFBCF32BB58}" type="sibTrans" cxnId="{3367D182-1CEE-4CD6-8F05-07191BC62457}">
      <dgm:prSet/>
      <dgm:spPr/>
      <dgm:t>
        <a:bodyPr/>
        <a:lstStyle/>
        <a:p>
          <a:endParaRPr lang="en-US"/>
        </a:p>
      </dgm:t>
    </dgm:pt>
    <dgm:pt modelId="{F2AC3C47-A42C-4EB3-B1BA-FE7D6724758E}">
      <dgm:prSet phldrT="[Text]"/>
      <dgm:spPr/>
      <dgm:t>
        <a:bodyPr/>
        <a:lstStyle/>
        <a:p>
          <a:r>
            <a:rPr lang="en-US" b="0" i="0" dirty="0" smtClean="0"/>
            <a:t>Detail</a:t>
          </a:r>
          <a:endParaRPr lang="en-US" dirty="0"/>
        </a:p>
      </dgm:t>
    </dgm:pt>
    <dgm:pt modelId="{B3276D3D-0B36-4AB0-AAB7-780EAA9B77AE}" type="sibTrans" cxnId="{802279F7-F557-4806-9C88-6220A616EA2C}">
      <dgm:prSet/>
      <dgm:spPr/>
      <dgm:t>
        <a:bodyPr/>
        <a:lstStyle/>
        <a:p>
          <a:endParaRPr lang="en-US"/>
        </a:p>
      </dgm:t>
    </dgm:pt>
    <dgm:pt modelId="{0B07A83A-7948-4455-9C01-6483A1E57A5B}" type="parTrans" cxnId="{802279F7-F557-4806-9C88-6220A616EA2C}">
      <dgm:prSet/>
      <dgm:spPr/>
      <dgm:t>
        <a:bodyPr/>
        <a:lstStyle/>
        <a:p>
          <a:endParaRPr lang="en-US"/>
        </a:p>
      </dgm:t>
    </dgm:pt>
    <dgm:pt modelId="{BC5FD032-F35B-49D6-82C8-6DD8F89D72FA}" type="pres">
      <dgm:prSet presAssocID="{A6BB09E8-BE43-4CD3-8F75-AC203E927FB4}" presName="linear" presStyleCnt="0">
        <dgm:presLayoutVars>
          <dgm:dir/>
          <dgm:animLvl val="lvl"/>
          <dgm:resizeHandles val="exact"/>
        </dgm:presLayoutVars>
      </dgm:prSet>
      <dgm:spPr/>
      <dgm:t>
        <a:bodyPr/>
        <a:lstStyle/>
        <a:p>
          <a:endParaRPr lang="en-US"/>
        </a:p>
      </dgm:t>
    </dgm:pt>
    <dgm:pt modelId="{D9C81373-510A-4102-9510-7C079882FFA3}" type="pres">
      <dgm:prSet presAssocID="{2123EF7C-F651-445E-B5E5-0E5F518D3227}" presName="parentLin" presStyleCnt="0"/>
      <dgm:spPr/>
    </dgm:pt>
    <dgm:pt modelId="{4D1D9F88-015E-4BE1-A1A9-ABD5F4ADD1BF}" type="pres">
      <dgm:prSet presAssocID="{2123EF7C-F651-445E-B5E5-0E5F518D3227}" presName="parentLeftMargin" presStyleLbl="node1" presStyleIdx="0" presStyleCnt="3"/>
      <dgm:spPr/>
      <dgm:t>
        <a:bodyPr/>
        <a:lstStyle/>
        <a:p>
          <a:endParaRPr lang="en-US"/>
        </a:p>
      </dgm:t>
    </dgm:pt>
    <dgm:pt modelId="{29E8BE4F-F97E-47B3-90EA-69A37EB2B8A0}" type="pres">
      <dgm:prSet presAssocID="{2123EF7C-F651-445E-B5E5-0E5F518D3227}" presName="parentText" presStyleLbl="node1" presStyleIdx="0" presStyleCnt="3">
        <dgm:presLayoutVars>
          <dgm:chMax val="0"/>
          <dgm:bulletEnabled val="1"/>
        </dgm:presLayoutVars>
      </dgm:prSet>
      <dgm:spPr/>
      <dgm:t>
        <a:bodyPr/>
        <a:lstStyle/>
        <a:p>
          <a:endParaRPr lang="en-US"/>
        </a:p>
      </dgm:t>
    </dgm:pt>
    <dgm:pt modelId="{3748C143-B383-4A68-9E83-EE689EF93580}" type="pres">
      <dgm:prSet presAssocID="{2123EF7C-F651-445E-B5E5-0E5F518D3227}" presName="negativeSpace" presStyleCnt="0"/>
      <dgm:spPr/>
    </dgm:pt>
    <dgm:pt modelId="{E2B63BDC-59A0-4818-9946-9D27C2E34CFC}" type="pres">
      <dgm:prSet presAssocID="{2123EF7C-F651-445E-B5E5-0E5F518D3227}" presName="childText" presStyleLbl="conFgAcc1" presStyleIdx="0" presStyleCnt="3">
        <dgm:presLayoutVars>
          <dgm:bulletEnabled val="1"/>
        </dgm:presLayoutVars>
      </dgm:prSet>
      <dgm:spPr/>
    </dgm:pt>
    <dgm:pt modelId="{AC0330AC-960B-4BE8-A35F-B0B3411C7EBE}" type="pres">
      <dgm:prSet presAssocID="{4A7B8821-E5CB-48DD-BCDF-9CFBCF32BB58}" presName="spaceBetweenRectangles" presStyleCnt="0"/>
      <dgm:spPr/>
    </dgm:pt>
    <dgm:pt modelId="{9CC3DD72-9FB6-4A4F-A99B-477EDF94BAD2}" type="pres">
      <dgm:prSet presAssocID="{F2AC3C47-A42C-4EB3-B1BA-FE7D6724758E}" presName="parentLin" presStyleCnt="0"/>
      <dgm:spPr/>
    </dgm:pt>
    <dgm:pt modelId="{FC08E5B5-34DA-4F04-AF82-B65DEFBFA021}" type="pres">
      <dgm:prSet presAssocID="{F2AC3C47-A42C-4EB3-B1BA-FE7D6724758E}" presName="parentLeftMargin" presStyleLbl="node1" presStyleIdx="0" presStyleCnt="3"/>
      <dgm:spPr/>
      <dgm:t>
        <a:bodyPr/>
        <a:lstStyle/>
        <a:p>
          <a:endParaRPr lang="en-US"/>
        </a:p>
      </dgm:t>
    </dgm:pt>
    <dgm:pt modelId="{A5E9F048-AEBC-4F69-9619-BE4FC9530AF9}" type="pres">
      <dgm:prSet presAssocID="{F2AC3C47-A42C-4EB3-B1BA-FE7D6724758E}" presName="parentText" presStyleLbl="node1" presStyleIdx="1" presStyleCnt="3">
        <dgm:presLayoutVars>
          <dgm:chMax val="0"/>
          <dgm:bulletEnabled val="1"/>
        </dgm:presLayoutVars>
      </dgm:prSet>
      <dgm:spPr/>
      <dgm:t>
        <a:bodyPr/>
        <a:lstStyle/>
        <a:p>
          <a:endParaRPr lang="en-US"/>
        </a:p>
      </dgm:t>
    </dgm:pt>
    <dgm:pt modelId="{E61C51C0-53AC-4446-A253-3BD3CDC25343}" type="pres">
      <dgm:prSet presAssocID="{F2AC3C47-A42C-4EB3-B1BA-FE7D6724758E}" presName="negativeSpace" presStyleCnt="0"/>
      <dgm:spPr/>
    </dgm:pt>
    <dgm:pt modelId="{5B835DAA-6603-48C5-B80E-4450EC78419E}" type="pres">
      <dgm:prSet presAssocID="{F2AC3C47-A42C-4EB3-B1BA-FE7D6724758E}" presName="childText" presStyleLbl="conFgAcc1" presStyleIdx="1" presStyleCnt="3">
        <dgm:presLayoutVars>
          <dgm:bulletEnabled val="1"/>
        </dgm:presLayoutVars>
      </dgm:prSet>
      <dgm:spPr/>
    </dgm:pt>
    <dgm:pt modelId="{94FB611E-0ADF-43FB-A2D9-423032BE99A6}" type="pres">
      <dgm:prSet presAssocID="{B3276D3D-0B36-4AB0-AAB7-780EAA9B77AE}" presName="spaceBetweenRectangles" presStyleCnt="0"/>
      <dgm:spPr/>
    </dgm:pt>
    <dgm:pt modelId="{0AA86588-B7D0-4DDD-BE79-85F3BD5F00B4}" type="pres">
      <dgm:prSet presAssocID="{D16F70F5-E76F-48C5-881E-3906C94A5EC4}" presName="parentLin" presStyleCnt="0"/>
      <dgm:spPr/>
    </dgm:pt>
    <dgm:pt modelId="{4F118117-CAA6-47AC-B54C-191D13E78819}" type="pres">
      <dgm:prSet presAssocID="{D16F70F5-E76F-48C5-881E-3906C94A5EC4}" presName="parentLeftMargin" presStyleLbl="node1" presStyleIdx="1" presStyleCnt="3"/>
      <dgm:spPr/>
      <dgm:t>
        <a:bodyPr/>
        <a:lstStyle/>
        <a:p>
          <a:endParaRPr lang="en-US"/>
        </a:p>
      </dgm:t>
    </dgm:pt>
    <dgm:pt modelId="{A1A9F1FB-339E-418B-88B3-7FBD1C7AA8F0}" type="pres">
      <dgm:prSet presAssocID="{D16F70F5-E76F-48C5-881E-3906C94A5EC4}" presName="parentText" presStyleLbl="node1" presStyleIdx="2" presStyleCnt="3">
        <dgm:presLayoutVars>
          <dgm:chMax val="0"/>
          <dgm:bulletEnabled val="1"/>
        </dgm:presLayoutVars>
      </dgm:prSet>
      <dgm:spPr/>
      <dgm:t>
        <a:bodyPr/>
        <a:lstStyle/>
        <a:p>
          <a:endParaRPr lang="en-US"/>
        </a:p>
      </dgm:t>
    </dgm:pt>
    <dgm:pt modelId="{C60E1D75-6FEC-487C-82DC-CE441663AEBD}" type="pres">
      <dgm:prSet presAssocID="{D16F70F5-E76F-48C5-881E-3906C94A5EC4}" presName="negativeSpace" presStyleCnt="0"/>
      <dgm:spPr/>
    </dgm:pt>
    <dgm:pt modelId="{49310C9B-603E-42B8-A59C-D04A81C739D7}" type="pres">
      <dgm:prSet presAssocID="{D16F70F5-E76F-48C5-881E-3906C94A5EC4}" presName="childText" presStyleLbl="conFgAcc1" presStyleIdx="2" presStyleCnt="3">
        <dgm:presLayoutVars>
          <dgm:bulletEnabled val="1"/>
        </dgm:presLayoutVars>
      </dgm:prSet>
      <dgm:spPr/>
    </dgm:pt>
  </dgm:ptLst>
  <dgm:cxnLst>
    <dgm:cxn modelId="{971D6C9C-C661-4551-92E2-C4F2C161F127}" type="presOf" srcId="{A6BB09E8-BE43-4CD3-8F75-AC203E927FB4}" destId="{BC5FD032-F35B-49D6-82C8-6DD8F89D72FA}" srcOrd="0" destOrd="0" presId="urn:microsoft.com/office/officeart/2005/8/layout/list1"/>
    <dgm:cxn modelId="{F1DE3C34-103B-4F82-ACB3-995ED2DB08DE}" type="presOf" srcId="{D16F70F5-E76F-48C5-881E-3906C94A5EC4}" destId="{4F118117-CAA6-47AC-B54C-191D13E78819}" srcOrd="0" destOrd="0" presId="urn:microsoft.com/office/officeart/2005/8/layout/list1"/>
    <dgm:cxn modelId="{3367D182-1CEE-4CD6-8F05-07191BC62457}" srcId="{A6BB09E8-BE43-4CD3-8F75-AC203E927FB4}" destId="{2123EF7C-F651-445E-B5E5-0E5F518D3227}" srcOrd="0" destOrd="0" parTransId="{79B84FD0-2E9D-4902-A141-D2661B0525E9}" sibTransId="{4A7B8821-E5CB-48DD-BCDF-9CFBCF32BB58}"/>
    <dgm:cxn modelId="{802279F7-F557-4806-9C88-6220A616EA2C}" srcId="{A6BB09E8-BE43-4CD3-8F75-AC203E927FB4}" destId="{F2AC3C47-A42C-4EB3-B1BA-FE7D6724758E}" srcOrd="1" destOrd="0" parTransId="{0B07A83A-7948-4455-9C01-6483A1E57A5B}" sibTransId="{B3276D3D-0B36-4AB0-AAB7-780EAA9B77AE}"/>
    <dgm:cxn modelId="{C27C0840-242D-4030-A1ED-D3C4A83691E5}" type="presOf" srcId="{2123EF7C-F651-445E-B5E5-0E5F518D3227}" destId="{29E8BE4F-F97E-47B3-90EA-69A37EB2B8A0}" srcOrd="1" destOrd="0" presId="urn:microsoft.com/office/officeart/2005/8/layout/list1"/>
    <dgm:cxn modelId="{3272E8AE-EDDE-4C10-96BB-E19F82E4F0F7}" type="presOf" srcId="{F2AC3C47-A42C-4EB3-B1BA-FE7D6724758E}" destId="{FC08E5B5-34DA-4F04-AF82-B65DEFBFA021}" srcOrd="0" destOrd="0" presId="urn:microsoft.com/office/officeart/2005/8/layout/list1"/>
    <dgm:cxn modelId="{56EA0963-B9FF-41F1-BCA8-4BF409C762D6}" type="presOf" srcId="{D16F70F5-E76F-48C5-881E-3906C94A5EC4}" destId="{A1A9F1FB-339E-418B-88B3-7FBD1C7AA8F0}" srcOrd="1" destOrd="0" presId="urn:microsoft.com/office/officeart/2005/8/layout/list1"/>
    <dgm:cxn modelId="{D690EC5A-26AA-4D66-AD3D-11ACC060E5D0}" srcId="{A6BB09E8-BE43-4CD3-8F75-AC203E927FB4}" destId="{D16F70F5-E76F-48C5-881E-3906C94A5EC4}" srcOrd="2" destOrd="0" parTransId="{BAE8F677-1B60-4709-93F6-23C66321D611}" sibTransId="{06C3DB56-64D0-4481-8C3A-6E18940E16BA}"/>
    <dgm:cxn modelId="{C3EA6C37-F1B2-467E-AAC7-B648C223602B}" type="presOf" srcId="{2123EF7C-F651-445E-B5E5-0E5F518D3227}" destId="{4D1D9F88-015E-4BE1-A1A9-ABD5F4ADD1BF}" srcOrd="0" destOrd="0" presId="urn:microsoft.com/office/officeart/2005/8/layout/list1"/>
    <dgm:cxn modelId="{EAF9FC7D-4405-406A-A1A2-0C6F2524E3D7}" type="presOf" srcId="{F2AC3C47-A42C-4EB3-B1BA-FE7D6724758E}" destId="{A5E9F048-AEBC-4F69-9619-BE4FC9530AF9}" srcOrd="1" destOrd="0" presId="urn:microsoft.com/office/officeart/2005/8/layout/list1"/>
    <dgm:cxn modelId="{810B951E-5AEB-4D0C-A0B4-0C85E5171C75}" type="presParOf" srcId="{BC5FD032-F35B-49D6-82C8-6DD8F89D72FA}" destId="{D9C81373-510A-4102-9510-7C079882FFA3}" srcOrd="0" destOrd="0" presId="urn:microsoft.com/office/officeart/2005/8/layout/list1"/>
    <dgm:cxn modelId="{01FDF1AC-A17D-4917-A66F-C2146F2A6579}" type="presParOf" srcId="{D9C81373-510A-4102-9510-7C079882FFA3}" destId="{4D1D9F88-015E-4BE1-A1A9-ABD5F4ADD1BF}" srcOrd="0" destOrd="0" presId="urn:microsoft.com/office/officeart/2005/8/layout/list1"/>
    <dgm:cxn modelId="{8ED880F5-A275-4609-AB0C-A3B8BED9D0F1}" type="presParOf" srcId="{D9C81373-510A-4102-9510-7C079882FFA3}" destId="{29E8BE4F-F97E-47B3-90EA-69A37EB2B8A0}" srcOrd="1" destOrd="0" presId="urn:microsoft.com/office/officeart/2005/8/layout/list1"/>
    <dgm:cxn modelId="{5BB51218-3346-4311-91A9-C434FB894E7C}" type="presParOf" srcId="{BC5FD032-F35B-49D6-82C8-6DD8F89D72FA}" destId="{3748C143-B383-4A68-9E83-EE689EF93580}" srcOrd="1" destOrd="0" presId="urn:microsoft.com/office/officeart/2005/8/layout/list1"/>
    <dgm:cxn modelId="{0846AC35-0311-4C90-A40E-549C4860BFCB}" type="presParOf" srcId="{BC5FD032-F35B-49D6-82C8-6DD8F89D72FA}" destId="{E2B63BDC-59A0-4818-9946-9D27C2E34CFC}" srcOrd="2" destOrd="0" presId="urn:microsoft.com/office/officeart/2005/8/layout/list1"/>
    <dgm:cxn modelId="{4AD74B50-DEA2-4E58-B556-EC8F772B72CF}" type="presParOf" srcId="{BC5FD032-F35B-49D6-82C8-6DD8F89D72FA}" destId="{AC0330AC-960B-4BE8-A35F-B0B3411C7EBE}" srcOrd="3" destOrd="0" presId="urn:microsoft.com/office/officeart/2005/8/layout/list1"/>
    <dgm:cxn modelId="{69ED3F07-4931-455E-BAA4-440E0DA36A52}" type="presParOf" srcId="{BC5FD032-F35B-49D6-82C8-6DD8F89D72FA}" destId="{9CC3DD72-9FB6-4A4F-A99B-477EDF94BAD2}" srcOrd="4" destOrd="0" presId="urn:microsoft.com/office/officeart/2005/8/layout/list1"/>
    <dgm:cxn modelId="{C3E2CAC8-F7E7-463D-BA68-CA9A31F57988}" type="presParOf" srcId="{9CC3DD72-9FB6-4A4F-A99B-477EDF94BAD2}" destId="{FC08E5B5-34DA-4F04-AF82-B65DEFBFA021}" srcOrd="0" destOrd="0" presId="urn:microsoft.com/office/officeart/2005/8/layout/list1"/>
    <dgm:cxn modelId="{D924ED83-BE0F-44E1-BF1E-F154A3BD3BDB}" type="presParOf" srcId="{9CC3DD72-9FB6-4A4F-A99B-477EDF94BAD2}" destId="{A5E9F048-AEBC-4F69-9619-BE4FC9530AF9}" srcOrd="1" destOrd="0" presId="urn:microsoft.com/office/officeart/2005/8/layout/list1"/>
    <dgm:cxn modelId="{8482839F-34A3-4EE5-B044-65DB28E05DEF}" type="presParOf" srcId="{BC5FD032-F35B-49D6-82C8-6DD8F89D72FA}" destId="{E61C51C0-53AC-4446-A253-3BD3CDC25343}" srcOrd="5" destOrd="0" presId="urn:microsoft.com/office/officeart/2005/8/layout/list1"/>
    <dgm:cxn modelId="{E5EE65C1-ECD6-4FD5-866E-62EE5E5D59C9}" type="presParOf" srcId="{BC5FD032-F35B-49D6-82C8-6DD8F89D72FA}" destId="{5B835DAA-6603-48C5-B80E-4450EC78419E}" srcOrd="6" destOrd="0" presId="urn:microsoft.com/office/officeart/2005/8/layout/list1"/>
    <dgm:cxn modelId="{D652BB8A-EFAF-4048-965E-FB6D072E7962}" type="presParOf" srcId="{BC5FD032-F35B-49D6-82C8-6DD8F89D72FA}" destId="{94FB611E-0ADF-43FB-A2D9-423032BE99A6}" srcOrd="7" destOrd="0" presId="urn:microsoft.com/office/officeart/2005/8/layout/list1"/>
    <dgm:cxn modelId="{E4927172-CB09-4D68-B0A4-02D7A90382B3}" type="presParOf" srcId="{BC5FD032-F35B-49D6-82C8-6DD8F89D72FA}" destId="{0AA86588-B7D0-4DDD-BE79-85F3BD5F00B4}" srcOrd="8" destOrd="0" presId="urn:microsoft.com/office/officeart/2005/8/layout/list1"/>
    <dgm:cxn modelId="{9EB51EC0-662F-4ED4-B114-FF500D5DE187}" type="presParOf" srcId="{0AA86588-B7D0-4DDD-BE79-85F3BD5F00B4}" destId="{4F118117-CAA6-47AC-B54C-191D13E78819}" srcOrd="0" destOrd="0" presId="urn:microsoft.com/office/officeart/2005/8/layout/list1"/>
    <dgm:cxn modelId="{96B9194C-E968-4CA5-9E06-D9BBF5333378}" type="presParOf" srcId="{0AA86588-B7D0-4DDD-BE79-85F3BD5F00B4}" destId="{A1A9F1FB-339E-418B-88B3-7FBD1C7AA8F0}" srcOrd="1" destOrd="0" presId="urn:microsoft.com/office/officeart/2005/8/layout/list1"/>
    <dgm:cxn modelId="{783A22DE-CD73-44E6-B7F1-6CF2FC728C5B}" type="presParOf" srcId="{BC5FD032-F35B-49D6-82C8-6DD8F89D72FA}" destId="{C60E1D75-6FEC-487C-82DC-CE441663AEBD}" srcOrd="9" destOrd="0" presId="urn:microsoft.com/office/officeart/2005/8/layout/list1"/>
    <dgm:cxn modelId="{C345EAD8-4D8E-4240-9075-FA5EE46ECF85}" type="presParOf" srcId="{BC5FD032-F35B-49D6-82C8-6DD8F89D72FA}" destId="{49310C9B-603E-42B8-A59C-D04A81C739D7}"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250F30-68A5-4D5C-BB47-826556E7137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8FBCB73-AD99-4B80-8571-4A2F52AF9451}">
      <dgm:prSet phldrT="[Text]"/>
      <dgm:spPr/>
      <dgm:t>
        <a:bodyPr/>
        <a:lstStyle/>
        <a:p>
          <a:r>
            <a:rPr lang="en-US" b="1" i="0" dirty="0" smtClean="0"/>
            <a:t>S</a:t>
          </a:r>
          <a:r>
            <a:rPr lang="en-US" b="0" i="0" dirty="0" smtClean="0"/>
            <a:t> - Single-</a:t>
          </a:r>
          <a:r>
            <a:rPr lang="en-US" b="0" i="0" dirty="0" err="1" smtClean="0"/>
            <a:t>responsiblity</a:t>
          </a:r>
          <a:r>
            <a:rPr lang="en-US" b="0" i="0" dirty="0" smtClean="0"/>
            <a:t> principle</a:t>
          </a:r>
          <a:endParaRPr lang="en-US" dirty="0"/>
        </a:p>
      </dgm:t>
    </dgm:pt>
    <dgm:pt modelId="{4CE64CA4-EE42-4B7E-8AAC-83A825FBD9B8}" type="parTrans" cxnId="{5AE3D4CA-3EB3-487B-BD69-B1B1F1C8DD00}">
      <dgm:prSet/>
      <dgm:spPr/>
      <dgm:t>
        <a:bodyPr/>
        <a:lstStyle/>
        <a:p>
          <a:endParaRPr lang="en-US"/>
        </a:p>
      </dgm:t>
    </dgm:pt>
    <dgm:pt modelId="{7788BB65-98D3-4731-9257-42B54E866D25}" type="sibTrans" cxnId="{5AE3D4CA-3EB3-487B-BD69-B1B1F1C8DD00}">
      <dgm:prSet/>
      <dgm:spPr/>
      <dgm:t>
        <a:bodyPr/>
        <a:lstStyle/>
        <a:p>
          <a:endParaRPr lang="en-US"/>
        </a:p>
      </dgm:t>
    </dgm:pt>
    <dgm:pt modelId="{0B761EB4-0896-421C-A504-5AEA6D2A4BAB}">
      <dgm:prSet phldrT="[Text]"/>
      <dgm:spPr/>
      <dgm:t>
        <a:bodyPr/>
        <a:lstStyle/>
        <a:p>
          <a:r>
            <a:rPr lang="en-US" b="1" i="0" dirty="0" smtClean="0"/>
            <a:t>L</a:t>
          </a:r>
          <a:r>
            <a:rPr lang="en-US" b="0" i="0" dirty="0" smtClean="0"/>
            <a:t> - </a:t>
          </a:r>
          <a:r>
            <a:rPr lang="en-US" b="0" i="0" dirty="0" err="1" smtClean="0"/>
            <a:t>Liskov</a:t>
          </a:r>
          <a:r>
            <a:rPr lang="en-US" b="0" i="0" dirty="0" smtClean="0"/>
            <a:t> substitution principle</a:t>
          </a:r>
          <a:endParaRPr lang="en-US" dirty="0"/>
        </a:p>
      </dgm:t>
    </dgm:pt>
    <dgm:pt modelId="{1A491DCD-270F-4071-8226-589AED71DA09}" type="parTrans" cxnId="{89155796-F3FF-4EE2-8A13-D9E7F7B13517}">
      <dgm:prSet/>
      <dgm:spPr/>
      <dgm:t>
        <a:bodyPr/>
        <a:lstStyle/>
        <a:p>
          <a:endParaRPr lang="en-US"/>
        </a:p>
      </dgm:t>
    </dgm:pt>
    <dgm:pt modelId="{D85B46F5-CA99-426A-A99E-729EBAC584E6}" type="sibTrans" cxnId="{89155796-F3FF-4EE2-8A13-D9E7F7B13517}">
      <dgm:prSet/>
      <dgm:spPr/>
      <dgm:t>
        <a:bodyPr/>
        <a:lstStyle/>
        <a:p>
          <a:endParaRPr lang="en-US"/>
        </a:p>
      </dgm:t>
    </dgm:pt>
    <dgm:pt modelId="{C9F75B5F-8113-4155-8E64-12A178AB45B8}">
      <dgm:prSet phldrT="[Text]"/>
      <dgm:spPr/>
      <dgm:t>
        <a:bodyPr/>
        <a:lstStyle/>
        <a:p>
          <a:r>
            <a:rPr lang="en-US" b="1" i="0" dirty="0" smtClean="0"/>
            <a:t>I</a:t>
          </a:r>
          <a:r>
            <a:rPr lang="en-US" b="0" i="0" dirty="0" smtClean="0"/>
            <a:t> - Interface segregation principle</a:t>
          </a:r>
          <a:endParaRPr lang="en-US" dirty="0"/>
        </a:p>
      </dgm:t>
    </dgm:pt>
    <dgm:pt modelId="{1373A2D3-0AE1-415D-BB99-B9AF3D1D9668}" type="parTrans" cxnId="{702BDE24-1846-4583-8A2A-7A0F3F06F245}">
      <dgm:prSet/>
      <dgm:spPr/>
      <dgm:t>
        <a:bodyPr/>
        <a:lstStyle/>
        <a:p>
          <a:endParaRPr lang="en-US"/>
        </a:p>
      </dgm:t>
    </dgm:pt>
    <dgm:pt modelId="{49495F8F-DB05-4F7F-AD9D-BDB2672B5B4D}" type="sibTrans" cxnId="{702BDE24-1846-4583-8A2A-7A0F3F06F245}">
      <dgm:prSet/>
      <dgm:spPr/>
      <dgm:t>
        <a:bodyPr/>
        <a:lstStyle/>
        <a:p>
          <a:endParaRPr lang="en-US"/>
        </a:p>
      </dgm:t>
    </dgm:pt>
    <dgm:pt modelId="{A5F6EE04-ED3F-40B6-A070-C893A48BCD77}">
      <dgm:prSet phldrT="[Text]"/>
      <dgm:spPr/>
      <dgm:t>
        <a:bodyPr/>
        <a:lstStyle/>
        <a:p>
          <a:r>
            <a:rPr lang="en-US" b="1" i="0" dirty="0" smtClean="0"/>
            <a:t>O</a:t>
          </a:r>
          <a:r>
            <a:rPr lang="en-US" b="0" i="0" dirty="0" smtClean="0"/>
            <a:t> - Open-closed principle</a:t>
          </a:r>
          <a:endParaRPr lang="en-US" dirty="0"/>
        </a:p>
      </dgm:t>
    </dgm:pt>
    <dgm:pt modelId="{2E966080-31A8-4683-82FA-24FB56A90847}" type="parTrans" cxnId="{98014BC0-EBC4-4BAF-A046-05912118D6DF}">
      <dgm:prSet/>
      <dgm:spPr/>
      <dgm:t>
        <a:bodyPr/>
        <a:lstStyle/>
        <a:p>
          <a:endParaRPr lang="en-US"/>
        </a:p>
      </dgm:t>
    </dgm:pt>
    <dgm:pt modelId="{0F82755C-AB28-409C-B90F-4B273BA18A80}" type="sibTrans" cxnId="{98014BC0-EBC4-4BAF-A046-05912118D6DF}">
      <dgm:prSet/>
      <dgm:spPr/>
      <dgm:t>
        <a:bodyPr/>
        <a:lstStyle/>
        <a:p>
          <a:endParaRPr lang="en-US"/>
        </a:p>
      </dgm:t>
    </dgm:pt>
    <dgm:pt modelId="{D07BA21B-06C9-47D5-95E0-1CF055C7AACC}">
      <dgm:prSet phldrT="[Text]"/>
      <dgm:spPr/>
      <dgm:t>
        <a:bodyPr/>
        <a:lstStyle/>
        <a:p>
          <a:r>
            <a:rPr lang="en-US" b="1" i="0" dirty="0" smtClean="0"/>
            <a:t>D</a:t>
          </a:r>
          <a:r>
            <a:rPr lang="en-US" b="0" i="0" dirty="0" smtClean="0"/>
            <a:t> - Dependency Inversion Principle</a:t>
          </a:r>
          <a:endParaRPr lang="en-US" dirty="0"/>
        </a:p>
      </dgm:t>
    </dgm:pt>
    <dgm:pt modelId="{3F04A35F-E76D-4C85-BDBF-E3C0D497E0E4}" type="parTrans" cxnId="{D99B75C9-2362-4944-9243-48B6685FD397}">
      <dgm:prSet/>
      <dgm:spPr/>
      <dgm:t>
        <a:bodyPr/>
        <a:lstStyle/>
        <a:p>
          <a:endParaRPr lang="en-US"/>
        </a:p>
      </dgm:t>
    </dgm:pt>
    <dgm:pt modelId="{D17F7EC8-C383-4E81-B4B7-BC9A1AB3CAAA}" type="sibTrans" cxnId="{D99B75C9-2362-4944-9243-48B6685FD397}">
      <dgm:prSet/>
      <dgm:spPr/>
      <dgm:t>
        <a:bodyPr/>
        <a:lstStyle/>
        <a:p>
          <a:endParaRPr lang="en-US"/>
        </a:p>
      </dgm:t>
    </dgm:pt>
    <dgm:pt modelId="{95FA110D-5006-42CA-957A-8F7A63136237}" type="pres">
      <dgm:prSet presAssocID="{8C250F30-68A5-4D5C-BB47-826556E7137B}" presName="linear" presStyleCnt="0">
        <dgm:presLayoutVars>
          <dgm:dir/>
          <dgm:animLvl val="lvl"/>
          <dgm:resizeHandles val="exact"/>
        </dgm:presLayoutVars>
      </dgm:prSet>
      <dgm:spPr/>
      <dgm:t>
        <a:bodyPr/>
        <a:lstStyle/>
        <a:p>
          <a:endParaRPr lang="en-US"/>
        </a:p>
      </dgm:t>
    </dgm:pt>
    <dgm:pt modelId="{56373373-1DC2-45D7-B7B4-00AC70A35FDA}" type="pres">
      <dgm:prSet presAssocID="{48FBCB73-AD99-4B80-8571-4A2F52AF9451}" presName="parentLin" presStyleCnt="0"/>
      <dgm:spPr/>
    </dgm:pt>
    <dgm:pt modelId="{0AFF3E47-7ABF-40CB-8B66-F8CE0F84E89C}" type="pres">
      <dgm:prSet presAssocID="{48FBCB73-AD99-4B80-8571-4A2F52AF9451}" presName="parentLeftMargin" presStyleLbl="node1" presStyleIdx="0" presStyleCnt="5"/>
      <dgm:spPr/>
      <dgm:t>
        <a:bodyPr/>
        <a:lstStyle/>
        <a:p>
          <a:endParaRPr lang="en-US"/>
        </a:p>
      </dgm:t>
    </dgm:pt>
    <dgm:pt modelId="{7E832CD2-B179-4B06-8716-17CEDAF07718}" type="pres">
      <dgm:prSet presAssocID="{48FBCB73-AD99-4B80-8571-4A2F52AF9451}" presName="parentText" presStyleLbl="node1" presStyleIdx="0" presStyleCnt="5">
        <dgm:presLayoutVars>
          <dgm:chMax val="0"/>
          <dgm:bulletEnabled val="1"/>
        </dgm:presLayoutVars>
      </dgm:prSet>
      <dgm:spPr/>
      <dgm:t>
        <a:bodyPr/>
        <a:lstStyle/>
        <a:p>
          <a:endParaRPr lang="en-US"/>
        </a:p>
      </dgm:t>
    </dgm:pt>
    <dgm:pt modelId="{2BE7F407-A565-4837-824B-3ADC2AC58B53}" type="pres">
      <dgm:prSet presAssocID="{48FBCB73-AD99-4B80-8571-4A2F52AF9451}" presName="negativeSpace" presStyleCnt="0"/>
      <dgm:spPr/>
    </dgm:pt>
    <dgm:pt modelId="{7BA5D0D3-0E1C-4AB2-B539-E6044CDD870D}" type="pres">
      <dgm:prSet presAssocID="{48FBCB73-AD99-4B80-8571-4A2F52AF9451}" presName="childText" presStyleLbl="conFgAcc1" presStyleIdx="0" presStyleCnt="5">
        <dgm:presLayoutVars>
          <dgm:bulletEnabled val="1"/>
        </dgm:presLayoutVars>
      </dgm:prSet>
      <dgm:spPr/>
    </dgm:pt>
    <dgm:pt modelId="{EBD97181-F508-4F25-AE8B-EED915DB6FBC}" type="pres">
      <dgm:prSet presAssocID="{7788BB65-98D3-4731-9257-42B54E866D25}" presName="spaceBetweenRectangles" presStyleCnt="0"/>
      <dgm:spPr/>
    </dgm:pt>
    <dgm:pt modelId="{FBECC909-EA7F-4E33-BBAA-8C01C834A19D}" type="pres">
      <dgm:prSet presAssocID="{A5F6EE04-ED3F-40B6-A070-C893A48BCD77}" presName="parentLin" presStyleCnt="0"/>
      <dgm:spPr/>
    </dgm:pt>
    <dgm:pt modelId="{FD434F47-8868-475D-B548-52D1AEE91565}" type="pres">
      <dgm:prSet presAssocID="{A5F6EE04-ED3F-40B6-A070-C893A48BCD77}" presName="parentLeftMargin" presStyleLbl="node1" presStyleIdx="0" presStyleCnt="5"/>
      <dgm:spPr/>
      <dgm:t>
        <a:bodyPr/>
        <a:lstStyle/>
        <a:p>
          <a:endParaRPr lang="en-US"/>
        </a:p>
      </dgm:t>
    </dgm:pt>
    <dgm:pt modelId="{8E059392-8438-472D-A77E-B6AA358D2350}" type="pres">
      <dgm:prSet presAssocID="{A5F6EE04-ED3F-40B6-A070-C893A48BCD77}" presName="parentText" presStyleLbl="node1" presStyleIdx="1" presStyleCnt="5">
        <dgm:presLayoutVars>
          <dgm:chMax val="0"/>
          <dgm:bulletEnabled val="1"/>
        </dgm:presLayoutVars>
      </dgm:prSet>
      <dgm:spPr/>
      <dgm:t>
        <a:bodyPr/>
        <a:lstStyle/>
        <a:p>
          <a:endParaRPr lang="en-US"/>
        </a:p>
      </dgm:t>
    </dgm:pt>
    <dgm:pt modelId="{9C3C613B-327D-4423-A91A-2C12C45D3D20}" type="pres">
      <dgm:prSet presAssocID="{A5F6EE04-ED3F-40B6-A070-C893A48BCD77}" presName="negativeSpace" presStyleCnt="0"/>
      <dgm:spPr/>
    </dgm:pt>
    <dgm:pt modelId="{357BD0AA-7E85-479F-819F-2EB52E06936E}" type="pres">
      <dgm:prSet presAssocID="{A5F6EE04-ED3F-40B6-A070-C893A48BCD77}" presName="childText" presStyleLbl="conFgAcc1" presStyleIdx="1" presStyleCnt="5">
        <dgm:presLayoutVars>
          <dgm:bulletEnabled val="1"/>
        </dgm:presLayoutVars>
      </dgm:prSet>
      <dgm:spPr/>
    </dgm:pt>
    <dgm:pt modelId="{D9398CF3-241D-4EC3-B902-AF1B11880CE4}" type="pres">
      <dgm:prSet presAssocID="{0F82755C-AB28-409C-B90F-4B273BA18A80}" presName="spaceBetweenRectangles" presStyleCnt="0"/>
      <dgm:spPr/>
    </dgm:pt>
    <dgm:pt modelId="{18D398C0-E387-43BE-B191-1F37F6D049D8}" type="pres">
      <dgm:prSet presAssocID="{0B761EB4-0896-421C-A504-5AEA6D2A4BAB}" presName="parentLin" presStyleCnt="0"/>
      <dgm:spPr/>
    </dgm:pt>
    <dgm:pt modelId="{BD23F3E8-8DD8-4703-81E0-C050A4868E6C}" type="pres">
      <dgm:prSet presAssocID="{0B761EB4-0896-421C-A504-5AEA6D2A4BAB}" presName="parentLeftMargin" presStyleLbl="node1" presStyleIdx="1" presStyleCnt="5"/>
      <dgm:spPr/>
      <dgm:t>
        <a:bodyPr/>
        <a:lstStyle/>
        <a:p>
          <a:endParaRPr lang="en-US"/>
        </a:p>
      </dgm:t>
    </dgm:pt>
    <dgm:pt modelId="{5DD3B6AE-8945-4B23-A351-A31808D3F7D6}" type="pres">
      <dgm:prSet presAssocID="{0B761EB4-0896-421C-A504-5AEA6D2A4BAB}" presName="parentText" presStyleLbl="node1" presStyleIdx="2" presStyleCnt="5">
        <dgm:presLayoutVars>
          <dgm:chMax val="0"/>
          <dgm:bulletEnabled val="1"/>
        </dgm:presLayoutVars>
      </dgm:prSet>
      <dgm:spPr/>
      <dgm:t>
        <a:bodyPr/>
        <a:lstStyle/>
        <a:p>
          <a:endParaRPr lang="en-US"/>
        </a:p>
      </dgm:t>
    </dgm:pt>
    <dgm:pt modelId="{05855979-A1F4-4C1D-9C20-1E490BB22012}" type="pres">
      <dgm:prSet presAssocID="{0B761EB4-0896-421C-A504-5AEA6D2A4BAB}" presName="negativeSpace" presStyleCnt="0"/>
      <dgm:spPr/>
    </dgm:pt>
    <dgm:pt modelId="{3D33515A-DE62-4ACC-AB8B-47B65E7F8241}" type="pres">
      <dgm:prSet presAssocID="{0B761EB4-0896-421C-A504-5AEA6D2A4BAB}" presName="childText" presStyleLbl="conFgAcc1" presStyleIdx="2" presStyleCnt="5">
        <dgm:presLayoutVars>
          <dgm:bulletEnabled val="1"/>
        </dgm:presLayoutVars>
      </dgm:prSet>
      <dgm:spPr/>
    </dgm:pt>
    <dgm:pt modelId="{11A8FBAB-F625-4C20-A087-9E65B20DA80B}" type="pres">
      <dgm:prSet presAssocID="{D85B46F5-CA99-426A-A99E-729EBAC584E6}" presName="spaceBetweenRectangles" presStyleCnt="0"/>
      <dgm:spPr/>
    </dgm:pt>
    <dgm:pt modelId="{192E8FC3-B24C-4E47-AC9E-7206665B2946}" type="pres">
      <dgm:prSet presAssocID="{C9F75B5F-8113-4155-8E64-12A178AB45B8}" presName="parentLin" presStyleCnt="0"/>
      <dgm:spPr/>
    </dgm:pt>
    <dgm:pt modelId="{53A77FAB-4EBB-4788-B433-7BC1EFB45475}" type="pres">
      <dgm:prSet presAssocID="{C9F75B5F-8113-4155-8E64-12A178AB45B8}" presName="parentLeftMargin" presStyleLbl="node1" presStyleIdx="2" presStyleCnt="5"/>
      <dgm:spPr/>
      <dgm:t>
        <a:bodyPr/>
        <a:lstStyle/>
        <a:p>
          <a:endParaRPr lang="en-US"/>
        </a:p>
      </dgm:t>
    </dgm:pt>
    <dgm:pt modelId="{1BF055DB-4A19-4E2F-BD79-95AC0A67B237}" type="pres">
      <dgm:prSet presAssocID="{C9F75B5F-8113-4155-8E64-12A178AB45B8}" presName="parentText" presStyleLbl="node1" presStyleIdx="3" presStyleCnt="5">
        <dgm:presLayoutVars>
          <dgm:chMax val="0"/>
          <dgm:bulletEnabled val="1"/>
        </dgm:presLayoutVars>
      </dgm:prSet>
      <dgm:spPr/>
      <dgm:t>
        <a:bodyPr/>
        <a:lstStyle/>
        <a:p>
          <a:endParaRPr lang="en-US"/>
        </a:p>
      </dgm:t>
    </dgm:pt>
    <dgm:pt modelId="{417A7B40-1F26-41F6-B3FE-A1697237ACFA}" type="pres">
      <dgm:prSet presAssocID="{C9F75B5F-8113-4155-8E64-12A178AB45B8}" presName="negativeSpace" presStyleCnt="0"/>
      <dgm:spPr/>
    </dgm:pt>
    <dgm:pt modelId="{63DA5035-F040-4682-8F56-C74F008EEE59}" type="pres">
      <dgm:prSet presAssocID="{C9F75B5F-8113-4155-8E64-12A178AB45B8}" presName="childText" presStyleLbl="conFgAcc1" presStyleIdx="3" presStyleCnt="5">
        <dgm:presLayoutVars>
          <dgm:bulletEnabled val="1"/>
        </dgm:presLayoutVars>
      </dgm:prSet>
      <dgm:spPr/>
    </dgm:pt>
    <dgm:pt modelId="{21EF227D-2E21-45C9-9AAB-CA9FB33C7AC6}" type="pres">
      <dgm:prSet presAssocID="{49495F8F-DB05-4F7F-AD9D-BDB2672B5B4D}" presName="spaceBetweenRectangles" presStyleCnt="0"/>
      <dgm:spPr/>
    </dgm:pt>
    <dgm:pt modelId="{AF442053-598C-4044-B698-C0BF07E2C49E}" type="pres">
      <dgm:prSet presAssocID="{D07BA21B-06C9-47D5-95E0-1CF055C7AACC}" presName="parentLin" presStyleCnt="0"/>
      <dgm:spPr/>
    </dgm:pt>
    <dgm:pt modelId="{A3282B70-5EC1-443E-B839-1FF02B16C2DC}" type="pres">
      <dgm:prSet presAssocID="{D07BA21B-06C9-47D5-95E0-1CF055C7AACC}" presName="parentLeftMargin" presStyleLbl="node1" presStyleIdx="3" presStyleCnt="5"/>
      <dgm:spPr/>
      <dgm:t>
        <a:bodyPr/>
        <a:lstStyle/>
        <a:p>
          <a:endParaRPr lang="en-US"/>
        </a:p>
      </dgm:t>
    </dgm:pt>
    <dgm:pt modelId="{A0EE1B38-F732-48D9-AD6A-AB68FF5E90CA}" type="pres">
      <dgm:prSet presAssocID="{D07BA21B-06C9-47D5-95E0-1CF055C7AACC}" presName="parentText" presStyleLbl="node1" presStyleIdx="4" presStyleCnt="5">
        <dgm:presLayoutVars>
          <dgm:chMax val="0"/>
          <dgm:bulletEnabled val="1"/>
        </dgm:presLayoutVars>
      </dgm:prSet>
      <dgm:spPr/>
      <dgm:t>
        <a:bodyPr/>
        <a:lstStyle/>
        <a:p>
          <a:endParaRPr lang="en-US"/>
        </a:p>
      </dgm:t>
    </dgm:pt>
    <dgm:pt modelId="{78CC0B8C-1332-4507-A6E8-D9B288850014}" type="pres">
      <dgm:prSet presAssocID="{D07BA21B-06C9-47D5-95E0-1CF055C7AACC}" presName="negativeSpace" presStyleCnt="0"/>
      <dgm:spPr/>
    </dgm:pt>
    <dgm:pt modelId="{2B50616E-1757-4688-8A45-19C310CABBE7}" type="pres">
      <dgm:prSet presAssocID="{D07BA21B-06C9-47D5-95E0-1CF055C7AACC}" presName="childText" presStyleLbl="conFgAcc1" presStyleIdx="4" presStyleCnt="5">
        <dgm:presLayoutVars>
          <dgm:bulletEnabled val="1"/>
        </dgm:presLayoutVars>
      </dgm:prSet>
      <dgm:spPr/>
    </dgm:pt>
  </dgm:ptLst>
  <dgm:cxnLst>
    <dgm:cxn modelId="{139889E0-0853-4A37-83B2-3E665B617EE2}" type="presOf" srcId="{A5F6EE04-ED3F-40B6-A070-C893A48BCD77}" destId="{8E059392-8438-472D-A77E-B6AA358D2350}" srcOrd="1" destOrd="0" presId="urn:microsoft.com/office/officeart/2005/8/layout/list1"/>
    <dgm:cxn modelId="{702BDE24-1846-4583-8A2A-7A0F3F06F245}" srcId="{8C250F30-68A5-4D5C-BB47-826556E7137B}" destId="{C9F75B5F-8113-4155-8E64-12A178AB45B8}" srcOrd="3" destOrd="0" parTransId="{1373A2D3-0AE1-415D-BB99-B9AF3D1D9668}" sibTransId="{49495F8F-DB05-4F7F-AD9D-BDB2672B5B4D}"/>
    <dgm:cxn modelId="{C9697DD1-E8DC-435D-96E5-D91BE10CA4A0}" type="presOf" srcId="{48FBCB73-AD99-4B80-8571-4A2F52AF9451}" destId="{7E832CD2-B179-4B06-8716-17CEDAF07718}" srcOrd="1" destOrd="0" presId="urn:microsoft.com/office/officeart/2005/8/layout/list1"/>
    <dgm:cxn modelId="{B5890E9C-9054-4C7F-BF44-D42B70E56ACD}" type="presOf" srcId="{48FBCB73-AD99-4B80-8571-4A2F52AF9451}" destId="{0AFF3E47-7ABF-40CB-8B66-F8CE0F84E89C}" srcOrd="0" destOrd="0" presId="urn:microsoft.com/office/officeart/2005/8/layout/list1"/>
    <dgm:cxn modelId="{2C5A14AF-986A-4DA8-8BD8-7BD8488E1413}" type="presOf" srcId="{D07BA21B-06C9-47D5-95E0-1CF055C7AACC}" destId="{A3282B70-5EC1-443E-B839-1FF02B16C2DC}" srcOrd="0" destOrd="0" presId="urn:microsoft.com/office/officeart/2005/8/layout/list1"/>
    <dgm:cxn modelId="{98014BC0-EBC4-4BAF-A046-05912118D6DF}" srcId="{8C250F30-68A5-4D5C-BB47-826556E7137B}" destId="{A5F6EE04-ED3F-40B6-A070-C893A48BCD77}" srcOrd="1" destOrd="0" parTransId="{2E966080-31A8-4683-82FA-24FB56A90847}" sibTransId="{0F82755C-AB28-409C-B90F-4B273BA18A80}"/>
    <dgm:cxn modelId="{5AE3D4CA-3EB3-487B-BD69-B1B1F1C8DD00}" srcId="{8C250F30-68A5-4D5C-BB47-826556E7137B}" destId="{48FBCB73-AD99-4B80-8571-4A2F52AF9451}" srcOrd="0" destOrd="0" parTransId="{4CE64CA4-EE42-4B7E-8AAC-83A825FBD9B8}" sibTransId="{7788BB65-98D3-4731-9257-42B54E866D25}"/>
    <dgm:cxn modelId="{47AA102A-E4AC-4A2B-93F6-55DE69D5706E}" type="presOf" srcId="{C9F75B5F-8113-4155-8E64-12A178AB45B8}" destId="{53A77FAB-4EBB-4788-B433-7BC1EFB45475}" srcOrd="0" destOrd="0" presId="urn:microsoft.com/office/officeart/2005/8/layout/list1"/>
    <dgm:cxn modelId="{CCC22A55-C3EA-4AE1-8794-EEC9928E913C}" type="presOf" srcId="{0B761EB4-0896-421C-A504-5AEA6D2A4BAB}" destId="{5DD3B6AE-8945-4B23-A351-A31808D3F7D6}" srcOrd="1" destOrd="0" presId="urn:microsoft.com/office/officeart/2005/8/layout/list1"/>
    <dgm:cxn modelId="{D99B75C9-2362-4944-9243-48B6685FD397}" srcId="{8C250F30-68A5-4D5C-BB47-826556E7137B}" destId="{D07BA21B-06C9-47D5-95E0-1CF055C7AACC}" srcOrd="4" destOrd="0" parTransId="{3F04A35F-E76D-4C85-BDBF-E3C0D497E0E4}" sibTransId="{D17F7EC8-C383-4E81-B4B7-BC9A1AB3CAAA}"/>
    <dgm:cxn modelId="{D63FF341-4E32-44EC-AD5D-0F661B58CEFC}" type="presOf" srcId="{8C250F30-68A5-4D5C-BB47-826556E7137B}" destId="{95FA110D-5006-42CA-957A-8F7A63136237}" srcOrd="0" destOrd="0" presId="urn:microsoft.com/office/officeart/2005/8/layout/list1"/>
    <dgm:cxn modelId="{D537CF86-2B0A-4D01-B6CC-10B2A5F1F6A7}" type="presOf" srcId="{C9F75B5F-8113-4155-8E64-12A178AB45B8}" destId="{1BF055DB-4A19-4E2F-BD79-95AC0A67B237}" srcOrd="1" destOrd="0" presId="urn:microsoft.com/office/officeart/2005/8/layout/list1"/>
    <dgm:cxn modelId="{89155796-F3FF-4EE2-8A13-D9E7F7B13517}" srcId="{8C250F30-68A5-4D5C-BB47-826556E7137B}" destId="{0B761EB4-0896-421C-A504-5AEA6D2A4BAB}" srcOrd="2" destOrd="0" parTransId="{1A491DCD-270F-4071-8226-589AED71DA09}" sibTransId="{D85B46F5-CA99-426A-A99E-729EBAC584E6}"/>
    <dgm:cxn modelId="{D62514E8-9E8D-4679-A2A1-339D41ACC466}" type="presOf" srcId="{0B761EB4-0896-421C-A504-5AEA6D2A4BAB}" destId="{BD23F3E8-8DD8-4703-81E0-C050A4868E6C}" srcOrd="0" destOrd="0" presId="urn:microsoft.com/office/officeart/2005/8/layout/list1"/>
    <dgm:cxn modelId="{8034A552-ABE6-4573-91FD-9B121BECC3CB}" type="presOf" srcId="{A5F6EE04-ED3F-40B6-A070-C893A48BCD77}" destId="{FD434F47-8868-475D-B548-52D1AEE91565}" srcOrd="0" destOrd="0" presId="urn:microsoft.com/office/officeart/2005/8/layout/list1"/>
    <dgm:cxn modelId="{F704DDDF-EE74-428B-9550-17D6C4FEAFC3}" type="presOf" srcId="{D07BA21B-06C9-47D5-95E0-1CF055C7AACC}" destId="{A0EE1B38-F732-48D9-AD6A-AB68FF5E90CA}" srcOrd="1" destOrd="0" presId="urn:microsoft.com/office/officeart/2005/8/layout/list1"/>
    <dgm:cxn modelId="{B67E2A6E-8B40-4E6E-8B65-E73E1467B28D}" type="presParOf" srcId="{95FA110D-5006-42CA-957A-8F7A63136237}" destId="{56373373-1DC2-45D7-B7B4-00AC70A35FDA}" srcOrd="0" destOrd="0" presId="urn:microsoft.com/office/officeart/2005/8/layout/list1"/>
    <dgm:cxn modelId="{AE7444BD-F1DC-48A8-B60E-A31AA89A7F31}" type="presParOf" srcId="{56373373-1DC2-45D7-B7B4-00AC70A35FDA}" destId="{0AFF3E47-7ABF-40CB-8B66-F8CE0F84E89C}" srcOrd="0" destOrd="0" presId="urn:microsoft.com/office/officeart/2005/8/layout/list1"/>
    <dgm:cxn modelId="{2D38F08A-377C-4B6A-851F-2B6FF4F3A289}" type="presParOf" srcId="{56373373-1DC2-45D7-B7B4-00AC70A35FDA}" destId="{7E832CD2-B179-4B06-8716-17CEDAF07718}" srcOrd="1" destOrd="0" presId="urn:microsoft.com/office/officeart/2005/8/layout/list1"/>
    <dgm:cxn modelId="{7A421D79-49B3-4CD4-8399-575862865007}" type="presParOf" srcId="{95FA110D-5006-42CA-957A-8F7A63136237}" destId="{2BE7F407-A565-4837-824B-3ADC2AC58B53}" srcOrd="1" destOrd="0" presId="urn:microsoft.com/office/officeart/2005/8/layout/list1"/>
    <dgm:cxn modelId="{2726BCAC-98E2-4E49-9D5F-6851D745A77F}" type="presParOf" srcId="{95FA110D-5006-42CA-957A-8F7A63136237}" destId="{7BA5D0D3-0E1C-4AB2-B539-E6044CDD870D}" srcOrd="2" destOrd="0" presId="urn:microsoft.com/office/officeart/2005/8/layout/list1"/>
    <dgm:cxn modelId="{D8AA626C-777A-4C71-8D0F-8012761F892D}" type="presParOf" srcId="{95FA110D-5006-42CA-957A-8F7A63136237}" destId="{EBD97181-F508-4F25-AE8B-EED915DB6FBC}" srcOrd="3" destOrd="0" presId="urn:microsoft.com/office/officeart/2005/8/layout/list1"/>
    <dgm:cxn modelId="{1C72D806-D33E-49DD-A23F-3F9BD5AFE3AD}" type="presParOf" srcId="{95FA110D-5006-42CA-957A-8F7A63136237}" destId="{FBECC909-EA7F-4E33-BBAA-8C01C834A19D}" srcOrd="4" destOrd="0" presId="urn:microsoft.com/office/officeart/2005/8/layout/list1"/>
    <dgm:cxn modelId="{B7696CD2-3479-492F-8972-C0A1E24A35E7}" type="presParOf" srcId="{FBECC909-EA7F-4E33-BBAA-8C01C834A19D}" destId="{FD434F47-8868-475D-B548-52D1AEE91565}" srcOrd="0" destOrd="0" presId="urn:microsoft.com/office/officeart/2005/8/layout/list1"/>
    <dgm:cxn modelId="{D6CFF4E1-2CE8-4838-96B1-A7845FBC2C89}" type="presParOf" srcId="{FBECC909-EA7F-4E33-BBAA-8C01C834A19D}" destId="{8E059392-8438-472D-A77E-B6AA358D2350}" srcOrd="1" destOrd="0" presId="urn:microsoft.com/office/officeart/2005/8/layout/list1"/>
    <dgm:cxn modelId="{F4249F4D-AFB9-4FC4-B0B4-4C1C418B2B1D}" type="presParOf" srcId="{95FA110D-5006-42CA-957A-8F7A63136237}" destId="{9C3C613B-327D-4423-A91A-2C12C45D3D20}" srcOrd="5" destOrd="0" presId="urn:microsoft.com/office/officeart/2005/8/layout/list1"/>
    <dgm:cxn modelId="{A924542C-9297-4639-BAFE-BA61100D5308}" type="presParOf" srcId="{95FA110D-5006-42CA-957A-8F7A63136237}" destId="{357BD0AA-7E85-479F-819F-2EB52E06936E}" srcOrd="6" destOrd="0" presId="urn:microsoft.com/office/officeart/2005/8/layout/list1"/>
    <dgm:cxn modelId="{27DAD6DB-F952-4449-AB9A-EA03DA3CF815}" type="presParOf" srcId="{95FA110D-5006-42CA-957A-8F7A63136237}" destId="{D9398CF3-241D-4EC3-B902-AF1B11880CE4}" srcOrd="7" destOrd="0" presId="urn:microsoft.com/office/officeart/2005/8/layout/list1"/>
    <dgm:cxn modelId="{7B4B47D0-7C6F-45F4-8A21-F7C2EBFD184A}" type="presParOf" srcId="{95FA110D-5006-42CA-957A-8F7A63136237}" destId="{18D398C0-E387-43BE-B191-1F37F6D049D8}" srcOrd="8" destOrd="0" presId="urn:microsoft.com/office/officeart/2005/8/layout/list1"/>
    <dgm:cxn modelId="{65184F58-616B-491C-A539-FCC6D9A6BDF1}" type="presParOf" srcId="{18D398C0-E387-43BE-B191-1F37F6D049D8}" destId="{BD23F3E8-8DD8-4703-81E0-C050A4868E6C}" srcOrd="0" destOrd="0" presId="urn:microsoft.com/office/officeart/2005/8/layout/list1"/>
    <dgm:cxn modelId="{4DC75D8E-BC5E-4C22-8948-82276A404B25}" type="presParOf" srcId="{18D398C0-E387-43BE-B191-1F37F6D049D8}" destId="{5DD3B6AE-8945-4B23-A351-A31808D3F7D6}" srcOrd="1" destOrd="0" presId="urn:microsoft.com/office/officeart/2005/8/layout/list1"/>
    <dgm:cxn modelId="{13FE0E8C-777B-4E36-BC48-B8E00B4CD491}" type="presParOf" srcId="{95FA110D-5006-42CA-957A-8F7A63136237}" destId="{05855979-A1F4-4C1D-9C20-1E490BB22012}" srcOrd="9" destOrd="0" presId="urn:microsoft.com/office/officeart/2005/8/layout/list1"/>
    <dgm:cxn modelId="{F6407BBC-FF0C-4708-AC63-1C85480F96F8}" type="presParOf" srcId="{95FA110D-5006-42CA-957A-8F7A63136237}" destId="{3D33515A-DE62-4ACC-AB8B-47B65E7F8241}" srcOrd="10" destOrd="0" presId="urn:microsoft.com/office/officeart/2005/8/layout/list1"/>
    <dgm:cxn modelId="{C14006C5-B503-4B67-AC70-B45A2AFCF807}" type="presParOf" srcId="{95FA110D-5006-42CA-957A-8F7A63136237}" destId="{11A8FBAB-F625-4C20-A087-9E65B20DA80B}" srcOrd="11" destOrd="0" presId="urn:microsoft.com/office/officeart/2005/8/layout/list1"/>
    <dgm:cxn modelId="{78CB2697-97C9-4ED0-A8F7-E712621DD801}" type="presParOf" srcId="{95FA110D-5006-42CA-957A-8F7A63136237}" destId="{192E8FC3-B24C-4E47-AC9E-7206665B2946}" srcOrd="12" destOrd="0" presId="urn:microsoft.com/office/officeart/2005/8/layout/list1"/>
    <dgm:cxn modelId="{B176BD9A-D9E6-4671-BF4C-63A34B92BAF9}" type="presParOf" srcId="{192E8FC3-B24C-4E47-AC9E-7206665B2946}" destId="{53A77FAB-4EBB-4788-B433-7BC1EFB45475}" srcOrd="0" destOrd="0" presId="urn:microsoft.com/office/officeart/2005/8/layout/list1"/>
    <dgm:cxn modelId="{3EA0106F-6EFD-407E-A861-7A2BDB3C5336}" type="presParOf" srcId="{192E8FC3-B24C-4E47-AC9E-7206665B2946}" destId="{1BF055DB-4A19-4E2F-BD79-95AC0A67B237}" srcOrd="1" destOrd="0" presId="urn:microsoft.com/office/officeart/2005/8/layout/list1"/>
    <dgm:cxn modelId="{D86FE489-A16E-4A01-BE16-51F9927A32BD}" type="presParOf" srcId="{95FA110D-5006-42CA-957A-8F7A63136237}" destId="{417A7B40-1F26-41F6-B3FE-A1697237ACFA}" srcOrd="13" destOrd="0" presId="urn:microsoft.com/office/officeart/2005/8/layout/list1"/>
    <dgm:cxn modelId="{A36849A0-C482-4EE0-9C1C-FE8D507E8281}" type="presParOf" srcId="{95FA110D-5006-42CA-957A-8F7A63136237}" destId="{63DA5035-F040-4682-8F56-C74F008EEE59}" srcOrd="14" destOrd="0" presId="urn:microsoft.com/office/officeart/2005/8/layout/list1"/>
    <dgm:cxn modelId="{95634D79-4D8F-4902-8882-8FE174C962A8}" type="presParOf" srcId="{95FA110D-5006-42CA-957A-8F7A63136237}" destId="{21EF227D-2E21-45C9-9AAB-CA9FB33C7AC6}" srcOrd="15" destOrd="0" presId="urn:microsoft.com/office/officeart/2005/8/layout/list1"/>
    <dgm:cxn modelId="{B326747B-3BC0-4556-8195-3020DCB2159A}" type="presParOf" srcId="{95FA110D-5006-42CA-957A-8F7A63136237}" destId="{AF442053-598C-4044-B698-C0BF07E2C49E}" srcOrd="16" destOrd="0" presId="urn:microsoft.com/office/officeart/2005/8/layout/list1"/>
    <dgm:cxn modelId="{4A2CC6E5-B0E4-492B-85D2-97AFDE608732}" type="presParOf" srcId="{AF442053-598C-4044-B698-C0BF07E2C49E}" destId="{A3282B70-5EC1-443E-B839-1FF02B16C2DC}" srcOrd="0" destOrd="0" presId="urn:microsoft.com/office/officeart/2005/8/layout/list1"/>
    <dgm:cxn modelId="{D6FE1F1D-5C78-487C-B6C2-549DCCDB1848}" type="presParOf" srcId="{AF442053-598C-4044-B698-C0BF07E2C49E}" destId="{A0EE1B38-F732-48D9-AD6A-AB68FF5E90CA}" srcOrd="1" destOrd="0" presId="urn:microsoft.com/office/officeart/2005/8/layout/list1"/>
    <dgm:cxn modelId="{05D90FEE-2163-4249-89B3-A4D66D0186F3}" type="presParOf" srcId="{95FA110D-5006-42CA-957A-8F7A63136237}" destId="{78CC0B8C-1332-4507-A6E8-D9B288850014}" srcOrd="17" destOrd="0" presId="urn:microsoft.com/office/officeart/2005/8/layout/list1"/>
    <dgm:cxn modelId="{0395EE96-4B0C-4621-B434-4CC87D3F6030}" type="presParOf" srcId="{95FA110D-5006-42CA-957A-8F7A63136237}" destId="{2B50616E-1757-4688-8A45-19C310CABBE7}"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883BE-77F5-4303-AD0A-2DD3F7210451}" type="datetimeFigureOut">
              <a:rPr lang="en-US" smtClean="0"/>
              <a:t>25-May-2020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0B549F-CAE9-4CF9-BF61-9154DABB83E6}" type="slidenum">
              <a:rPr lang="en-US" smtClean="0"/>
              <a:t>‹#›</a:t>
            </a:fld>
            <a:endParaRPr lang="en-US"/>
          </a:p>
        </p:txBody>
      </p:sp>
    </p:spTree>
    <p:extLst>
      <p:ext uri="{BB962C8B-B14F-4D97-AF65-F5344CB8AC3E}">
        <p14:creationId xmlns:p14="http://schemas.microsoft.com/office/powerpoint/2010/main" val="306213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toidicodedao.com/2015/06/25/cach-tiep-can-1-ngon-ngucong-nghe-moi-phan-2/"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klivvz.com/posts/i-dont-love-the-single-responsibility-principl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toidicodedao.com/2015/11/19/mat-toi-cua-nganh-cong-nghiep-it-phan-2/"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toidicodedao.com/2015/06/18/con-duong-phat-trien-su-nghiep-career-path-cho-developer/" TargetMode="External"/><Relationship Id="rId5" Type="http://schemas.openxmlformats.org/officeDocument/2006/relationships/hyperlink" Target="https://toidicodedao.com/2016/01/12/tutorial-viet-ung-dung-di-dong-mot-cach-de-dang-voi-ionic-framework/" TargetMode="External"/><Relationship Id="rId4" Type="http://schemas.openxmlformats.org/officeDocument/2006/relationships/hyperlink" Target="https://toidicodedao.com/2015/06/25/cach-tiep-can-1-ngon-ngucong-nghe-moi-phan-2/"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toidicodedao.com/2015/03/10/series-c-hay-ho-ienumerable-va-yield-tuong-don-gian-ma-lam-thu-phai-ban/"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toidicodedao.com/2015/08/25/tutorial-viet-unit-test-trong-c-voi-nunit/"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E0B549F-CAE9-4CF9-BF61-9154DABB83E6}" type="slidenum">
              <a:rPr lang="en-US" smtClean="0"/>
              <a:t>1</a:t>
            </a:fld>
            <a:endParaRPr lang="en-US"/>
          </a:p>
        </p:txBody>
      </p:sp>
    </p:spTree>
    <p:extLst>
      <p:ext uri="{BB962C8B-B14F-4D97-AF65-F5344CB8AC3E}">
        <p14:creationId xmlns:p14="http://schemas.microsoft.com/office/powerpoint/2010/main" val="4095156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Những nguyên lý mình giới thiệu hôm nay là những nguyên lý thiết kế trong OOP. Đây là những nguyên lý được đúc kết bởi máu xương vô số developer, rút ra từ hàng ngàn dự án thành công và thất bại. Một project áp dụng những nguyên lý này sẽ có code dễ đọc, dễ test, rõ ràng hơn. Và việc quan trọng nhất là việc </a:t>
            </a:r>
            <a:r>
              <a:rPr lang="vi-VN" sz="1200" b="1" i="0" kern="1200" dirty="0" smtClean="0">
                <a:solidFill>
                  <a:schemeClr val="tx1"/>
                </a:solidFill>
                <a:effectLst/>
                <a:latin typeface="+mn-lt"/>
                <a:ea typeface="+mn-ea"/>
                <a:cs typeface="+mn-cs"/>
              </a:rPr>
              <a:t>maintainace code sẽ dễ hơn rất nhiều </a:t>
            </a:r>
            <a:r>
              <a:rPr lang="vi-VN" sz="1200" b="0" i="0" kern="1200" dirty="0" smtClean="0">
                <a:solidFill>
                  <a:schemeClr val="tx1"/>
                </a:solidFill>
                <a:effectLst/>
                <a:latin typeface="+mn-lt"/>
                <a:ea typeface="+mn-ea"/>
                <a:cs typeface="+mn-cs"/>
              </a:rPr>
              <a:t>(Ai có </a:t>
            </a:r>
            <a:r>
              <a:rPr lang="vi-VN" sz="1200" b="0" i="0" u="sng" kern="1200" dirty="0" smtClean="0">
                <a:solidFill>
                  <a:schemeClr val="tx1"/>
                </a:solidFill>
                <a:effectLst/>
                <a:latin typeface="+mn-lt"/>
                <a:ea typeface="+mn-ea"/>
                <a:cs typeface="+mn-cs"/>
                <a:hlinkClick r:id="rId3"/>
              </a:rPr>
              <a:t>kinh nghiệm</a:t>
            </a:r>
            <a:r>
              <a:rPr lang="vi-VN" sz="1200" b="0" i="0" kern="1200" dirty="0" smtClean="0">
                <a:solidFill>
                  <a:schemeClr val="tx1"/>
                </a:solidFill>
                <a:effectLst/>
                <a:latin typeface="+mn-lt"/>
                <a:ea typeface="+mn-ea"/>
                <a:cs typeface="+mn-cs"/>
              </a:rPr>
              <a:t> trong ngành IT đều biết </a:t>
            </a:r>
            <a:r>
              <a:rPr lang="vi-VN" sz="1200" b="1" i="0" kern="1200" dirty="0" smtClean="0">
                <a:solidFill>
                  <a:schemeClr val="tx1"/>
                </a:solidFill>
                <a:effectLst/>
                <a:latin typeface="+mn-lt"/>
                <a:ea typeface="+mn-ea"/>
                <a:cs typeface="+mn-cs"/>
              </a:rPr>
              <a:t>thời gian code chỉ chiếm 20-40%</a:t>
            </a:r>
            <a:r>
              <a:rPr lang="vi-VN" sz="1200" b="0" i="0" kern="1200" dirty="0" smtClean="0">
                <a:solidFill>
                  <a:schemeClr val="tx1"/>
                </a:solidFill>
                <a:effectLst/>
                <a:latin typeface="+mn-lt"/>
                <a:ea typeface="+mn-ea"/>
                <a:cs typeface="+mn-cs"/>
              </a:rPr>
              <a:t>, còn lại là thời gian để maintainance: thêm bớt chức năng và sửa lỗi).</a:t>
            </a:r>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3</a:t>
            </a:fld>
            <a:endParaRPr lang="en-US"/>
          </a:p>
        </p:txBody>
      </p:sp>
    </p:spTree>
    <p:extLst>
      <p:ext uri="{BB962C8B-B14F-4D97-AF65-F5344CB8AC3E}">
        <p14:creationId xmlns:p14="http://schemas.microsoft.com/office/powerpoint/2010/main" val="3967500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Nguyên lý Đơn Trách Nhiệm</a:t>
            </a:r>
            <a:endParaRPr lang="en-US" sz="1200" b="0" i="0" kern="1200" dirty="0" smtClean="0">
              <a:solidFill>
                <a:schemeClr val="tx1"/>
              </a:solidFill>
              <a:effectLst/>
              <a:latin typeface="+mn-lt"/>
              <a:ea typeface="+mn-ea"/>
              <a:cs typeface="+mn-cs"/>
            </a:endParaRPr>
          </a:p>
          <a:p>
            <a:r>
              <a:rPr lang="en-US" dirty="0" err="1" smtClean="0"/>
              <a:t>Một</a:t>
            </a:r>
            <a:r>
              <a:rPr lang="en-US" dirty="0" smtClean="0"/>
              <a:t> class </a:t>
            </a:r>
            <a:r>
              <a:rPr lang="en-US" dirty="0" err="1" smtClean="0"/>
              <a:t>chỉ</a:t>
            </a:r>
            <a:r>
              <a:rPr lang="en-US" dirty="0" smtClean="0"/>
              <a:t> </a:t>
            </a:r>
            <a:r>
              <a:rPr lang="en-US" dirty="0" err="1" smtClean="0"/>
              <a:t>nên</a:t>
            </a:r>
            <a:r>
              <a:rPr lang="en-US" dirty="0" smtClean="0"/>
              <a:t> </a:t>
            </a:r>
            <a:r>
              <a:rPr lang="en-US" dirty="0" err="1" smtClean="0"/>
              <a:t>giữ</a:t>
            </a:r>
            <a:r>
              <a:rPr lang="en-US" dirty="0" smtClean="0"/>
              <a:t> </a:t>
            </a:r>
            <a:r>
              <a:rPr lang="en-US" dirty="0" err="1" smtClean="0"/>
              <a:t>một</a:t>
            </a:r>
            <a:r>
              <a:rPr lang="en-US" dirty="0" smtClean="0"/>
              <a:t> </a:t>
            </a:r>
            <a:r>
              <a:rPr lang="en-US" dirty="0" err="1" smtClean="0"/>
              <a:t>trách</a:t>
            </a:r>
            <a:r>
              <a:rPr lang="en-US" dirty="0" smtClean="0"/>
              <a:t> </a:t>
            </a:r>
            <a:r>
              <a:rPr lang="en-US" dirty="0" err="1" smtClean="0"/>
              <a:t>nhiệm</a:t>
            </a:r>
            <a:r>
              <a:rPr lang="en-US" dirty="0" smtClean="0"/>
              <a:t> </a:t>
            </a:r>
            <a:r>
              <a:rPr lang="en-US" dirty="0" err="1" smtClean="0"/>
              <a:t>duy</a:t>
            </a:r>
            <a:r>
              <a:rPr lang="en-US" dirty="0" smtClean="0"/>
              <a:t> </a:t>
            </a:r>
            <a:r>
              <a:rPr lang="en-US" dirty="0" err="1" smtClean="0"/>
              <a:t>nhất</a:t>
            </a:r>
            <a:r>
              <a:rPr lang="en-US" dirty="0" smtClean="0"/>
              <a:t> (</a:t>
            </a:r>
            <a:r>
              <a:rPr lang="en-US" dirty="0" err="1" smtClean="0"/>
              <a:t>Chỉ</a:t>
            </a:r>
            <a:r>
              <a:rPr lang="en-US" dirty="0" smtClean="0"/>
              <a:t> </a:t>
            </a:r>
            <a:r>
              <a:rPr lang="en-US" dirty="0" err="1" smtClean="0"/>
              <a:t>có</a:t>
            </a:r>
            <a:r>
              <a:rPr lang="en-US" dirty="0" smtClean="0"/>
              <a:t> </a:t>
            </a:r>
            <a:r>
              <a:rPr lang="en-US" dirty="0" err="1" smtClean="0"/>
              <a:t>thể</a:t>
            </a:r>
            <a:r>
              <a:rPr lang="en-US" dirty="0" smtClean="0"/>
              <a:t> </a:t>
            </a:r>
            <a:r>
              <a:rPr lang="en-US" dirty="0" err="1" smtClean="0"/>
              <a:t>thay</a:t>
            </a:r>
            <a:r>
              <a:rPr lang="en-US" dirty="0" smtClean="0"/>
              <a:t> </a:t>
            </a:r>
            <a:r>
              <a:rPr lang="en-US" dirty="0" err="1" smtClean="0"/>
              <a:t>đổi</a:t>
            </a:r>
            <a:r>
              <a:rPr lang="en-US" dirty="0" smtClean="0"/>
              <a:t> class </a:t>
            </a:r>
            <a:r>
              <a:rPr lang="en-US" dirty="0" err="1" smtClean="0"/>
              <a:t>vì</a:t>
            </a:r>
            <a:r>
              <a:rPr lang="en-US" dirty="0" smtClean="0"/>
              <a:t> </a:t>
            </a:r>
            <a:r>
              <a:rPr lang="en-US" dirty="0" err="1" smtClean="0"/>
              <a:t>một</a:t>
            </a:r>
            <a:r>
              <a:rPr lang="en-US" dirty="0" smtClean="0"/>
              <a:t> </a:t>
            </a:r>
            <a:r>
              <a:rPr lang="en-US" dirty="0" err="1" smtClean="0"/>
              <a:t>lý</a:t>
            </a:r>
            <a:r>
              <a:rPr lang="en-US" dirty="0" smtClean="0"/>
              <a:t> do </a:t>
            </a:r>
            <a:r>
              <a:rPr lang="en-US" dirty="0" err="1" smtClean="0"/>
              <a:t>duy</a:t>
            </a:r>
            <a:r>
              <a:rPr lang="en-US" dirty="0" smtClean="0"/>
              <a:t> </a:t>
            </a:r>
            <a:r>
              <a:rPr lang="en-US" dirty="0" err="1" smtClean="0"/>
              <a:t>nhất</a:t>
            </a:r>
            <a:r>
              <a:rPr lang="en-US" dirty="0" smtClean="0"/>
              <a:t>)</a:t>
            </a:r>
          </a:p>
          <a:p>
            <a:r>
              <a:rPr lang="vi-VN" sz="1200" b="0" i="0" kern="1200" dirty="0" smtClean="0">
                <a:solidFill>
                  <a:schemeClr val="tx1"/>
                </a:solidFill>
                <a:effectLst/>
                <a:latin typeface="+mn-lt"/>
                <a:ea typeface="+mn-ea"/>
                <a:cs typeface="+mn-cs"/>
              </a:rPr>
              <a:t>Ta có thể tạm hiểu “trách nhiệm” ở đây tương đương với “chức năng”. Tại sao một class chỉ nên giữ một chức năng duy nhất?? Để hiểu điều này, hãy nhìn vào hình dưới.</a:t>
            </a:r>
            <a:endParaRPr lang="en-US" sz="1200" b="0" i="0" kern="1200" dirty="0" smtClean="0">
              <a:solidFill>
                <a:schemeClr val="tx1"/>
              </a:solidFill>
              <a:effectLst/>
              <a:latin typeface="+mn-lt"/>
              <a:ea typeface="+mn-ea"/>
              <a:cs typeface="+mn-cs"/>
            </a:endParaRPr>
          </a:p>
          <a:p>
            <a:pPr fontAlgn="base"/>
            <a:r>
              <a:rPr lang="vi-VN" sz="1200" b="0" i="0" kern="1200" dirty="0" smtClean="0">
                <a:solidFill>
                  <a:schemeClr val="tx1"/>
                </a:solidFill>
                <a:effectLst/>
                <a:latin typeface="+mn-lt"/>
                <a:ea typeface="+mn-ea"/>
                <a:cs typeface="+mn-cs"/>
              </a:rPr>
              <a:t>Hãy xem con dao trong hình như một class với rất nhiều chức năng. Con dao này “có vẻ” khá là tiện dụng, nhưng lại cồng kềnh và nặng nề. Đặc biệt, khi có một bộ phận bị hư hỏng, ta phải tháo nguyên con dao ra để sửa. Việc sửa chữa và cải tiến rất phức tạp, có thể ảnh hưởng tới nhiều bộ phận khác nhau.</a:t>
            </a:r>
          </a:p>
          <a:p>
            <a:pPr fontAlgn="base"/>
            <a:r>
              <a:rPr lang="vi-VN" sz="1200" b="0" i="0" kern="1200" dirty="0" smtClean="0">
                <a:solidFill>
                  <a:schemeClr val="tx1"/>
                </a:solidFill>
                <a:effectLst/>
                <a:latin typeface="+mn-lt"/>
                <a:ea typeface="+mn-ea"/>
                <a:cs typeface="+mn-cs"/>
              </a:rPr>
              <a:t>Một class có quá nhiều chức năng cũng sẽ</a:t>
            </a:r>
            <a:r>
              <a:rPr lang="vi-VN" sz="1200" b="1" i="0" kern="1200" dirty="0" smtClean="0">
                <a:solidFill>
                  <a:schemeClr val="tx1"/>
                </a:solidFill>
                <a:effectLst/>
                <a:latin typeface="+mn-lt"/>
                <a:ea typeface="+mn-ea"/>
                <a:cs typeface="+mn-cs"/>
              </a:rPr>
              <a:t> trở nên cồng kềnh và phức tạp</a:t>
            </a:r>
            <a:r>
              <a:rPr lang="vi-VN" sz="1200" b="0" i="0" kern="1200" dirty="0" smtClean="0">
                <a:solidFill>
                  <a:schemeClr val="tx1"/>
                </a:solidFill>
                <a:effectLst/>
                <a:latin typeface="+mn-lt"/>
                <a:ea typeface="+mn-ea"/>
                <a:cs typeface="+mn-cs"/>
              </a:rPr>
              <a:t>. Trong ngành IT, requirement </a:t>
            </a:r>
            <a:r>
              <a:rPr lang="vi-VN" sz="1200" b="1" i="0" kern="1200" dirty="0" smtClean="0">
                <a:solidFill>
                  <a:schemeClr val="tx1"/>
                </a:solidFill>
                <a:effectLst/>
                <a:latin typeface="+mn-lt"/>
                <a:ea typeface="+mn-ea"/>
                <a:cs typeface="+mn-cs"/>
              </a:rPr>
              <a:t>rất hay thay đổi</a:t>
            </a:r>
            <a:r>
              <a:rPr lang="vi-VN" sz="1200" b="0" i="0" kern="1200" dirty="0" smtClean="0">
                <a:solidFill>
                  <a:schemeClr val="tx1"/>
                </a:solidFill>
                <a:effectLst/>
                <a:latin typeface="+mn-lt"/>
                <a:ea typeface="+mn-ea"/>
                <a:cs typeface="+mn-cs"/>
              </a:rPr>
              <a:t>, dẫn tới sự thay đổi code. Nếu một class có quá nhiều chức năng, quá cồng kềnh, </a:t>
            </a:r>
            <a:r>
              <a:rPr lang="vi-VN" sz="1200" b="1" i="0" kern="1200" dirty="0" smtClean="0">
                <a:solidFill>
                  <a:schemeClr val="tx1"/>
                </a:solidFill>
                <a:effectLst/>
                <a:latin typeface="+mn-lt"/>
                <a:ea typeface="+mn-ea"/>
                <a:cs typeface="+mn-cs"/>
              </a:rPr>
              <a:t>việc thay đổi code sẽ rất khó khăn</a:t>
            </a:r>
            <a:r>
              <a:rPr lang="vi-VN" sz="1200" b="0" i="0" kern="1200" dirty="0" smtClean="0">
                <a:solidFill>
                  <a:schemeClr val="tx1"/>
                </a:solidFill>
                <a:effectLst/>
                <a:latin typeface="+mn-lt"/>
                <a:ea typeface="+mn-ea"/>
                <a:cs typeface="+mn-cs"/>
              </a:rPr>
              <a:t>, mất nhiều thời gian, còn dễ gây ảnh hưởng tới các module đang hoạt động khác.</a:t>
            </a:r>
            <a:endParaRPr lang="en-US" sz="1200" b="0" i="0" kern="1200" dirty="0" smtClean="0">
              <a:solidFill>
                <a:schemeClr val="tx1"/>
              </a:solidFill>
              <a:effectLst/>
              <a:latin typeface="+mn-lt"/>
              <a:ea typeface="+mn-ea"/>
              <a:cs typeface="+mn-cs"/>
            </a:endParaRPr>
          </a:p>
          <a:p>
            <a:pPr fontAlgn="base"/>
            <a:r>
              <a:rPr lang="vi-VN" sz="1200" b="0" i="0" kern="1200" dirty="0" smtClean="0">
                <a:solidFill>
                  <a:schemeClr val="tx1"/>
                </a:solidFill>
                <a:effectLst/>
                <a:latin typeface="+mn-lt"/>
                <a:ea typeface="+mn-ea"/>
                <a:cs typeface="+mn-cs"/>
              </a:rPr>
              <a:t>Áp dụng SRP vào con dao phía trên, ta có thể tách nó ra làm kéo, dao, mở nút chai,… riêng biệt là xong, cái gì hư chỉ cần sửa cái đấy. Với code cũng vậy, ta chỉ cần thiết kế các module sao cho đơn giản, một module chỉ có 1 chức năng duy nhất là xong (Nói vậy chứ việc xác định, gom nhóm chức năng </a:t>
            </a:r>
            <a:r>
              <a:rPr lang="vi-VN" sz="1200" b="1" i="0" kern="1200" dirty="0" smtClean="0">
                <a:solidFill>
                  <a:schemeClr val="tx1"/>
                </a:solidFill>
                <a:effectLst/>
                <a:latin typeface="+mn-lt"/>
                <a:ea typeface="+mn-ea"/>
                <a:cs typeface="+mn-cs"/>
              </a:rPr>
              <a:t>không hề dễ</a:t>
            </a:r>
            <a:r>
              <a:rPr lang="vi-VN" sz="1200" b="0" i="0" kern="1200" dirty="0" smtClean="0">
                <a:solidFill>
                  <a:schemeClr val="tx1"/>
                </a:solidFill>
                <a:effectLst/>
                <a:latin typeface="+mn-lt"/>
                <a:ea typeface="+mn-ea"/>
                <a:cs typeface="+mn-cs"/>
              </a:rPr>
              <a:t> đâu nhé).</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5</a:t>
            </a:fld>
            <a:endParaRPr lang="en-US"/>
          </a:p>
        </p:txBody>
      </p:sp>
    </p:spTree>
    <p:extLst>
      <p:ext uri="{BB962C8B-B14F-4D97-AF65-F5344CB8AC3E}">
        <p14:creationId xmlns:p14="http://schemas.microsoft.com/office/powerpoint/2010/main" val="2401780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Class </a:t>
            </a:r>
            <a:r>
              <a:rPr lang="vi-VN" sz="1200" b="0" i="1" kern="1200" dirty="0" smtClean="0">
                <a:solidFill>
                  <a:schemeClr val="tx1"/>
                </a:solidFill>
                <a:effectLst/>
                <a:latin typeface="+mn-lt"/>
                <a:ea typeface="+mn-ea"/>
                <a:cs typeface="+mn-cs"/>
              </a:rPr>
              <a:t>Student </a:t>
            </a:r>
            <a:r>
              <a:rPr lang="vi-VN" sz="1200" b="0" i="0" kern="1200" dirty="0" smtClean="0">
                <a:solidFill>
                  <a:schemeClr val="tx1"/>
                </a:solidFill>
                <a:effectLst/>
                <a:latin typeface="+mn-lt"/>
                <a:ea typeface="+mn-ea"/>
                <a:cs typeface="+mn-cs"/>
              </a:rPr>
              <a:t>có quá nhiều chức năng: chứa thông tin học sinh, format hiển thị thông tin, lưu trữ thông tin.</a:t>
            </a:r>
            <a:endParaRPr lang="en-US" sz="1200" b="0" i="0" kern="1200" dirty="0" smtClean="0">
              <a:solidFill>
                <a:schemeClr val="tx1"/>
              </a:solidFill>
              <a:effectLst/>
              <a:latin typeface="+mn-lt"/>
              <a:ea typeface="+mn-ea"/>
              <a:cs typeface="+mn-cs"/>
            </a:endParaRPr>
          </a:p>
          <a:p>
            <a:r>
              <a:rPr lang="vi-VN" sz="1200" b="0" i="0" kern="1200" dirty="0" smtClean="0">
                <a:solidFill>
                  <a:schemeClr val="tx1"/>
                </a:solidFill>
                <a:effectLst/>
                <a:latin typeface="+mn-lt"/>
                <a:ea typeface="+mn-ea"/>
                <a:cs typeface="+mn-cs"/>
              </a:rPr>
              <a:t>Code như thế thì có làm sao không? Hiện tại thì không sao cả, nhưng khi code lớn dần, thêm chức năng nhiều hơn, class </a:t>
            </a:r>
            <a:r>
              <a:rPr lang="vi-VN" sz="1200" b="0" i="1" kern="1200" dirty="0" smtClean="0">
                <a:solidFill>
                  <a:schemeClr val="tx1"/>
                </a:solidFill>
                <a:effectLst/>
                <a:latin typeface="+mn-lt"/>
                <a:ea typeface="+mn-ea"/>
                <a:cs typeface="+mn-cs"/>
              </a:rPr>
              <a:t>Student </a:t>
            </a:r>
            <a:r>
              <a:rPr lang="vi-VN" sz="1200" b="0" i="0" kern="1200" dirty="0" smtClean="0">
                <a:solidFill>
                  <a:schemeClr val="tx1"/>
                </a:solidFill>
                <a:effectLst/>
                <a:latin typeface="+mn-lt"/>
                <a:ea typeface="+mn-ea"/>
                <a:cs typeface="+mn-cs"/>
              </a:rPr>
              <a:t>sẽ bị phình to ra. Chưa kể, nếu như có thêm các class khác như Person, Teacher v…v, đoạn code hiển thị/lưu trữ thông tin sẽ nằm rải rác ở nhiều class, rất khó sửa chữa và nâng cấp.</a:t>
            </a:r>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6</a:t>
            </a:fld>
            <a:endParaRPr lang="en-US"/>
          </a:p>
        </p:txBody>
      </p:sp>
    </p:spTree>
    <p:extLst>
      <p:ext uri="{BB962C8B-B14F-4D97-AF65-F5344CB8AC3E}">
        <p14:creationId xmlns:p14="http://schemas.microsoft.com/office/powerpoint/2010/main" val="3674080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Để giải quyết, ta chỉ cần tách ra làm nhiều class, mỗi class có một chức năng riêng là xong. Khi cần nâng cấp, sửa chữa, sẽ diễn ra ở từng class, không ảnh hưởng tới các class còn lại.</a:t>
            </a:r>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7</a:t>
            </a:fld>
            <a:endParaRPr lang="en-US"/>
          </a:p>
        </p:txBody>
      </p:sp>
    </p:spTree>
    <p:extLst>
      <p:ext uri="{BB962C8B-B14F-4D97-AF65-F5344CB8AC3E}">
        <p14:creationId xmlns:p14="http://schemas.microsoft.com/office/powerpoint/2010/main" val="3342777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i="0" kern="1200" dirty="0" smtClean="0">
                <a:solidFill>
                  <a:schemeClr val="tx1"/>
                </a:solidFill>
                <a:effectLst/>
                <a:latin typeface="+mn-lt"/>
                <a:ea typeface="+mn-ea"/>
                <a:cs typeface="+mn-cs"/>
              </a:rPr>
              <a:t>Lưu ý: </a:t>
            </a:r>
            <a:r>
              <a:rPr lang="vi-VN" sz="1200" b="0" i="0" kern="1200" dirty="0" smtClean="0">
                <a:solidFill>
                  <a:schemeClr val="tx1"/>
                </a:solidFill>
                <a:effectLst/>
                <a:latin typeface="+mn-lt"/>
                <a:ea typeface="+mn-ea"/>
                <a:cs typeface="+mn-cs"/>
              </a:rPr>
              <a:t>Không phải lúc nào cũng nên áp dụng nguyên lý này vào code. Một trường hợp hay gặp là các class dạng Helper hay Utilities – các class này vi phạm SRP 1 cách trắng trợn. Nếu số lượng hàm ít, ta vẫn có thể cho tất cả các hàm này vào 1 class, xét cho cùng, toàn bộ các hàm trong helper đều có chức năng </a:t>
            </a:r>
            <a:r>
              <a:rPr lang="vi-VN" sz="1200" b="0" i="1" kern="1200" dirty="0" smtClean="0">
                <a:solidFill>
                  <a:schemeClr val="tx1"/>
                </a:solidFill>
                <a:effectLst/>
                <a:latin typeface="+mn-lt"/>
                <a:ea typeface="+mn-ea"/>
                <a:cs typeface="+mn-cs"/>
              </a:rPr>
              <a:t>xử lý các tác vụ nho nhỏ</a:t>
            </a:r>
            <a:r>
              <a:rPr lang="vi-VN" sz="1200" b="0" i="0" kern="1200" dirty="0" smtClean="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8</a:t>
            </a:fld>
            <a:endParaRPr lang="en-US"/>
          </a:p>
        </p:txBody>
      </p:sp>
    </p:spTree>
    <p:extLst>
      <p:ext uri="{BB962C8B-B14F-4D97-AF65-F5344CB8AC3E}">
        <p14:creationId xmlns:p14="http://schemas.microsoft.com/office/powerpoint/2010/main" val="1800280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9</a:t>
            </a:fld>
            <a:endParaRPr lang="en-US"/>
          </a:p>
        </p:txBody>
      </p:sp>
    </p:spTree>
    <p:extLst>
      <p:ext uri="{BB962C8B-B14F-4D97-AF65-F5344CB8AC3E}">
        <p14:creationId xmlns:p14="http://schemas.microsoft.com/office/powerpoint/2010/main" val="488164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vi-VN" sz="1200" b="0" i="0" kern="1200" dirty="0" smtClean="0">
                <a:solidFill>
                  <a:schemeClr val="tx1"/>
                </a:solidFill>
                <a:effectLst/>
                <a:latin typeface="+mn-lt"/>
                <a:ea typeface="+mn-ea"/>
                <a:cs typeface="+mn-cs"/>
              </a:rPr>
              <a:t>Về bản chất, </a:t>
            </a:r>
            <a:r>
              <a:rPr lang="vi-VN" sz="1200" b="1" i="0" kern="1200" dirty="0" smtClean="0">
                <a:solidFill>
                  <a:schemeClr val="tx1"/>
                </a:solidFill>
                <a:effectLst/>
                <a:latin typeface="+mn-lt"/>
                <a:ea typeface="+mn-ea"/>
                <a:cs typeface="+mn-cs"/>
              </a:rPr>
              <a:t>nguyên lý chỉ là nguyên lý, </a:t>
            </a:r>
            <a:r>
              <a:rPr lang="vi-VN" sz="1200" b="0" i="0" kern="1200" dirty="0" smtClean="0">
                <a:solidFill>
                  <a:schemeClr val="tx1"/>
                </a:solidFill>
                <a:effectLst/>
                <a:latin typeface="+mn-lt"/>
                <a:ea typeface="+mn-ea"/>
                <a:cs typeface="+mn-cs"/>
              </a:rPr>
              <a:t>nó chỉ là hướng dẫn chứ </a:t>
            </a:r>
            <a:r>
              <a:rPr lang="vi-VN" sz="1200" b="0" i="1" kern="1200" dirty="0" smtClean="0">
                <a:solidFill>
                  <a:schemeClr val="tx1"/>
                </a:solidFill>
                <a:effectLst/>
                <a:latin typeface="+mn-lt"/>
                <a:ea typeface="+mn-ea"/>
                <a:cs typeface="+mn-cs"/>
              </a:rPr>
              <a:t>không phải là quy tắc tuyệt đối bất di bất dịch</a:t>
            </a:r>
            <a:r>
              <a:rPr lang="vi-VN" sz="1200" b="0" i="0" kern="1200" dirty="0" smtClean="0">
                <a:solidFill>
                  <a:schemeClr val="tx1"/>
                </a:solidFill>
                <a:effectLst/>
                <a:latin typeface="+mn-lt"/>
                <a:ea typeface="+mn-ea"/>
                <a:cs typeface="+mn-cs"/>
              </a:rPr>
              <a:t>. Nếu tìm hiểu kĩ, các bạn sẽ thấy vẫn có vài lập trình viên mổ xẻ, phản đối, chỉ ra </a:t>
            </a:r>
            <a:r>
              <a:rPr lang="vi-VN" sz="1200" b="0" i="0" u="sng" kern="1200" dirty="0" smtClean="0">
                <a:solidFill>
                  <a:schemeClr val="tx1"/>
                </a:solidFill>
                <a:effectLst/>
                <a:latin typeface="+mn-lt"/>
                <a:ea typeface="+mn-ea"/>
                <a:cs typeface="+mn-cs"/>
                <a:hlinkClick r:id="rId3"/>
              </a:rPr>
              <a:t>những chỗ chưa ổn</a:t>
            </a:r>
            <a:r>
              <a:rPr lang="vi-VN" sz="1200" b="0" i="0" kern="1200" dirty="0" smtClean="0">
                <a:solidFill>
                  <a:schemeClr val="tx1"/>
                </a:solidFill>
                <a:effectLst/>
                <a:latin typeface="+mn-lt"/>
                <a:ea typeface="+mn-ea"/>
                <a:cs typeface="+mn-cs"/>
              </a:rPr>
              <a:t> của các nguyên lý này. Tuy vậy, việc hiểu rõ chúng vẫn giúp code ta viết ra dễ đọc, dễ hiểu, dễ quản lý hơn.</a:t>
            </a:r>
          </a:p>
          <a:p>
            <a:pPr fontAlgn="base"/>
            <a:r>
              <a:rPr lang="vi-VN" sz="1200" b="0" i="0" kern="1200" dirty="0" smtClean="0">
                <a:solidFill>
                  <a:schemeClr val="tx1"/>
                </a:solidFill>
                <a:effectLst/>
                <a:latin typeface="+mn-lt"/>
                <a:ea typeface="+mn-ea"/>
                <a:cs typeface="+mn-cs"/>
              </a:rPr>
              <a:t>SRP là nguyên lý đơn giản dễ hiểu nhất, nhưng cũng khó áp dụng đúng nhất. Sự khác nhau giữa dev giỏi và dev bình thường là ở chỗ, cả 2 cùng biết về các qui tắc và nguyên lý, nhưng dev giỏi sẽ biết khi </a:t>
            </a:r>
            <a:r>
              <a:rPr lang="vi-VN" sz="1200" b="1" i="0" kern="1200" dirty="0" smtClean="0">
                <a:solidFill>
                  <a:schemeClr val="tx1"/>
                </a:solidFill>
                <a:effectLst/>
                <a:latin typeface="+mn-lt"/>
                <a:ea typeface="+mn-ea"/>
                <a:cs typeface="+mn-cs"/>
              </a:rPr>
              <a:t>nào cần áp dụng, khi nào không</a:t>
            </a:r>
            <a:r>
              <a:rPr lang="vi-VN" sz="1200" b="0" i="0" kern="1200" dirty="0" smtClean="0">
                <a:solidFill>
                  <a:schemeClr val="tx1"/>
                </a:solidFill>
                <a:effectLst/>
                <a:latin typeface="+mn-lt"/>
                <a:ea typeface="+mn-ea"/>
                <a:cs typeface="+mn-cs"/>
              </a:rPr>
              <a: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10</a:t>
            </a:fld>
            <a:endParaRPr lang="en-US"/>
          </a:p>
        </p:txBody>
      </p:sp>
    </p:spTree>
    <p:extLst>
      <p:ext uri="{BB962C8B-B14F-4D97-AF65-F5344CB8AC3E}">
        <p14:creationId xmlns:p14="http://schemas.microsoft.com/office/powerpoint/2010/main" val="1081473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Có thể thoải mái mở rộng 1 module, nhưng hạn chế sửa đổi bên trong module đó </a:t>
            </a:r>
            <a:endParaRPr lang="en-US" dirty="0" smtClean="0"/>
          </a:p>
          <a:p>
            <a:pPr fontAlgn="base"/>
            <a:r>
              <a:rPr lang="vi-VN" sz="1200" b="1" i="0" kern="1200" dirty="0" smtClean="0">
                <a:solidFill>
                  <a:schemeClr val="tx1"/>
                </a:solidFill>
                <a:effectLst/>
                <a:latin typeface="+mn-lt"/>
                <a:ea typeface="+mn-ea"/>
                <a:cs typeface="+mn-cs"/>
              </a:rPr>
              <a:t>Giải thích nguyên lý</a:t>
            </a:r>
          </a:p>
          <a:p>
            <a:pPr fontAlgn="base"/>
            <a:r>
              <a:rPr lang="vi-VN" sz="1200" b="0" i="0" kern="1200" dirty="0" smtClean="0">
                <a:solidFill>
                  <a:schemeClr val="tx1"/>
                </a:solidFill>
                <a:effectLst/>
                <a:latin typeface="+mn-lt"/>
                <a:ea typeface="+mn-ea"/>
                <a:cs typeface="+mn-cs"/>
              </a:rPr>
              <a:t>Theo nguyên lý này, một module cần đáp ứng 2 điều kiện sau:</a:t>
            </a:r>
          </a:p>
          <a:p>
            <a:pPr fontAlgn="base"/>
            <a:r>
              <a:rPr lang="vi-VN" sz="1200" b="1" i="0" kern="1200" dirty="0" smtClean="0">
                <a:solidFill>
                  <a:schemeClr val="tx1"/>
                </a:solidFill>
                <a:effectLst/>
                <a:latin typeface="+mn-lt"/>
                <a:ea typeface="+mn-ea"/>
                <a:cs typeface="+mn-cs"/>
              </a:rPr>
              <a:t>Dễ mở rộng</a:t>
            </a:r>
            <a:r>
              <a:rPr lang="vi-VN" sz="1200" b="0" i="0" kern="1200" dirty="0" smtClean="0">
                <a:solidFill>
                  <a:schemeClr val="tx1"/>
                </a:solidFill>
                <a:effectLst/>
                <a:latin typeface="+mn-lt"/>
                <a:ea typeface="+mn-ea"/>
                <a:cs typeface="+mn-cs"/>
              </a:rPr>
              <a:t>: Có thể dễ dàng nâng cấp, mở rộng, thêm tính năng mới cho một module khi có yêu cầu.</a:t>
            </a:r>
          </a:p>
          <a:p>
            <a:pPr fontAlgn="base"/>
            <a:r>
              <a:rPr lang="vi-VN" sz="1200" b="1" i="0" kern="1200" dirty="0" smtClean="0">
                <a:solidFill>
                  <a:schemeClr val="tx1"/>
                </a:solidFill>
                <a:effectLst/>
                <a:latin typeface="+mn-lt"/>
                <a:ea typeface="+mn-ea"/>
                <a:cs typeface="+mn-cs"/>
              </a:rPr>
              <a:t>Khó sửa đổi</a:t>
            </a:r>
            <a:r>
              <a:rPr lang="vi-VN" sz="1200" b="0" i="0" kern="1200" dirty="0" smtClean="0">
                <a:solidFill>
                  <a:schemeClr val="tx1"/>
                </a:solidFill>
                <a:effectLst/>
                <a:latin typeface="+mn-lt"/>
                <a:ea typeface="+mn-ea"/>
                <a:cs typeface="+mn-cs"/>
              </a:rPr>
              <a:t>: Hạn chế hoặc cấm việc sửa đổi source code của module sẵn có.</a:t>
            </a:r>
          </a:p>
          <a:p>
            <a:pPr fontAlgn="base"/>
            <a:r>
              <a:rPr lang="vi-VN" sz="1200" b="0" i="0" kern="1200" dirty="0" smtClean="0">
                <a:solidFill>
                  <a:schemeClr val="tx1"/>
                </a:solidFill>
                <a:effectLst/>
                <a:latin typeface="+mn-lt"/>
                <a:ea typeface="+mn-ea"/>
                <a:cs typeface="+mn-cs"/>
              </a:rPr>
              <a:t>Hai điều kiện này thoạt nghe có vẻ mâu thuẫn quá nhỉ? Theo lẽ thường, khi muốn thêm chức năng thì ta phải viết thêm code hoặc sửa code đã có. Đằng này, nguyên lý lại</a:t>
            </a:r>
            <a:r>
              <a:rPr lang="vi-VN" sz="1200" b="1" i="0" kern="1200" dirty="0" smtClean="0">
                <a:solidFill>
                  <a:schemeClr val="tx1"/>
                </a:solidFill>
                <a:effectLst/>
                <a:latin typeface="+mn-lt"/>
                <a:ea typeface="+mn-ea"/>
                <a:cs typeface="+mn-cs"/>
              </a:rPr>
              <a:t> hạn chế việc sửa đổi source code</a:t>
            </a:r>
            <a:r>
              <a:rPr lang="vi-VN" sz="1200" b="0" i="0" kern="1200" dirty="0" smtClean="0">
                <a:solidFill>
                  <a:schemeClr val="tx1"/>
                </a:solidFill>
                <a:effectLst/>
                <a:latin typeface="+mn-lt"/>
                <a:ea typeface="+mn-ea"/>
                <a:cs typeface="+mn-cs"/>
              </a:rPr>
              <a:t>!! Vậy làm thế nào để ta có thể thiết kế một module dễ mở rộng, nhưng lại khó sửa đổi?</a:t>
            </a:r>
          </a:p>
          <a:p>
            <a:pPr fontAlgn="base"/>
            <a:r>
              <a:rPr lang="vi-VN" sz="1200" b="0" i="0" kern="1200" dirty="0" smtClean="0">
                <a:solidFill>
                  <a:schemeClr val="tx1"/>
                </a:solidFill>
                <a:effectLst/>
                <a:latin typeface="+mn-lt"/>
                <a:ea typeface="+mn-ea"/>
                <a:cs typeface="+mn-cs"/>
              </a:rPr>
              <a:t>Trước khi nói về lập trình, hãy cùng phân tích một vật dụng được thiết kế chuẩn theo Nguyên lý Đóng Mở: khẩu súng. Để bắn được xa hơn, ta có thể gắn thêm ống ngắm; để không gây tiếng động, ta có thể gắn nòng giảm thanh; để tăng số lượng đạn, ta có thể gắn thêm băng đạn phụ; khi cần cận chiến ta có thể gắn lưỡi lê vào luôn.</a:t>
            </a:r>
          </a:p>
          <a:p>
            <a:pPr fontAlgn="base"/>
            <a:r>
              <a:rPr lang="vi-VN" sz="1200" b="0" i="0" kern="1200" dirty="0" smtClean="0">
                <a:solidFill>
                  <a:schemeClr val="tx1"/>
                </a:solidFill>
                <a:effectLst/>
                <a:latin typeface="+mn-lt"/>
                <a:ea typeface="+mn-ea"/>
                <a:cs typeface="+mn-cs"/>
              </a:rPr>
              <a:t>Dễ thấy, khẩu súng được thiết kế để ta dễ dàng mở rộng tính năng mà không cần phải mổ xẻ tháo lắp các bộ phận bên trong (source code) của nó. Một module phù hợp OCP cũng nên được thiết kế như vậy.</a:t>
            </a:r>
          </a:p>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11</a:t>
            </a:fld>
            <a:endParaRPr lang="en-US"/>
          </a:p>
        </p:txBody>
      </p:sp>
    </p:spTree>
    <p:extLst>
      <p:ext uri="{BB962C8B-B14F-4D97-AF65-F5344CB8AC3E}">
        <p14:creationId xmlns:p14="http://schemas.microsoft.com/office/powerpoint/2010/main" val="471760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Ta có 3 class là </a:t>
            </a:r>
            <a:r>
              <a:rPr lang="vi-VN" sz="1200" b="0" i="1" kern="1200" dirty="0" smtClean="0">
                <a:solidFill>
                  <a:schemeClr val="tx1"/>
                </a:solidFill>
                <a:effectLst/>
                <a:latin typeface="+mn-lt"/>
                <a:ea typeface="+mn-ea"/>
                <a:cs typeface="+mn-cs"/>
              </a:rPr>
              <a:t>Square</a:t>
            </a:r>
            <a:r>
              <a:rPr lang="vi-VN" sz="1200" b="0" i="0" kern="1200" dirty="0" smtClean="0">
                <a:solidFill>
                  <a:schemeClr val="tx1"/>
                </a:solidFill>
                <a:effectLst/>
                <a:latin typeface="+mn-lt"/>
                <a:ea typeface="+mn-ea"/>
                <a:cs typeface="+mn-cs"/>
              </a:rPr>
              <a:t>, </a:t>
            </a:r>
            <a:r>
              <a:rPr lang="vi-VN" sz="1200" b="0" i="1" kern="1200" dirty="0" smtClean="0">
                <a:solidFill>
                  <a:schemeClr val="tx1"/>
                </a:solidFill>
                <a:effectLst/>
                <a:latin typeface="+mn-lt"/>
                <a:ea typeface="+mn-ea"/>
                <a:cs typeface="+mn-cs"/>
              </a:rPr>
              <a:t>Circle</a:t>
            </a:r>
            <a:r>
              <a:rPr lang="vi-VN" sz="1200" b="0" i="0" kern="1200" dirty="0" smtClean="0">
                <a:solidFill>
                  <a:schemeClr val="tx1"/>
                </a:solidFill>
                <a:effectLst/>
                <a:latin typeface="+mn-lt"/>
                <a:ea typeface="+mn-ea"/>
                <a:cs typeface="+mn-cs"/>
              </a:rPr>
              <a:t>, </a:t>
            </a:r>
            <a:r>
              <a:rPr lang="vi-VN" sz="1200" b="0" i="1" kern="1200" dirty="0" smtClean="0">
                <a:solidFill>
                  <a:schemeClr val="tx1"/>
                </a:solidFill>
                <a:effectLst/>
                <a:latin typeface="+mn-lt"/>
                <a:ea typeface="+mn-ea"/>
                <a:cs typeface="+mn-cs"/>
              </a:rPr>
              <a:t>Rectangle</a:t>
            </a:r>
            <a:r>
              <a:rPr lang="vi-VN" sz="1200" b="0" i="0" kern="1200" dirty="0" smtClean="0">
                <a:solidFill>
                  <a:schemeClr val="tx1"/>
                </a:solidFill>
                <a:effectLst/>
                <a:latin typeface="+mn-lt"/>
                <a:ea typeface="+mn-ea"/>
                <a:cs typeface="+mn-cs"/>
              </a:rPr>
              <a:t>. Class </a:t>
            </a:r>
            <a:r>
              <a:rPr lang="vi-VN" sz="1200" b="0" i="1" kern="1200" dirty="0" smtClean="0">
                <a:solidFill>
                  <a:schemeClr val="tx1"/>
                </a:solidFill>
                <a:effectLst/>
                <a:latin typeface="+mn-lt"/>
                <a:ea typeface="+mn-ea"/>
                <a:cs typeface="+mn-cs"/>
              </a:rPr>
              <a:t>AreaDisplay</a:t>
            </a:r>
            <a:r>
              <a:rPr lang="vi-VN" sz="1200" b="0" i="0" kern="1200" dirty="0" smtClean="0">
                <a:solidFill>
                  <a:schemeClr val="tx1"/>
                </a:solidFill>
                <a:effectLst/>
                <a:latin typeface="+mn-lt"/>
                <a:ea typeface="+mn-ea"/>
                <a:cs typeface="+mn-cs"/>
              </a:rPr>
              <a:t> tính diện tích các hình này và in ra. Theo code cũ, để tính diện tích, ta cần dùng hàm if để check và ép kiểu object đưa vào, sau đó bắt đầu tính. Dễ thấy nếu trong tương lại ta thêm nhiều class nữa, ta phải sửa class </a:t>
            </a:r>
            <a:r>
              <a:rPr lang="vi-VN" sz="1200" b="0" i="1" kern="1200" dirty="0" smtClean="0">
                <a:solidFill>
                  <a:schemeClr val="tx1"/>
                </a:solidFill>
                <a:effectLst/>
                <a:latin typeface="+mn-lt"/>
                <a:ea typeface="+mn-ea"/>
                <a:cs typeface="+mn-cs"/>
              </a:rPr>
              <a:t>AreaDisplay</a:t>
            </a:r>
            <a:r>
              <a:rPr lang="vi-VN" sz="1200" b="0" i="0" kern="1200" dirty="0" smtClean="0">
                <a:solidFill>
                  <a:schemeClr val="tx1"/>
                </a:solidFill>
                <a:effectLst/>
                <a:latin typeface="+mn-lt"/>
                <a:ea typeface="+mn-ea"/>
                <a:cs typeface="+mn-cs"/>
              </a:rPr>
              <a:t>, </a:t>
            </a:r>
            <a:r>
              <a:rPr lang="vi-VN" sz="1200" b="1" i="0" kern="1200" dirty="0" smtClean="0">
                <a:solidFill>
                  <a:schemeClr val="tx1"/>
                </a:solidFill>
                <a:effectLst/>
                <a:latin typeface="+mn-lt"/>
                <a:ea typeface="+mn-ea"/>
                <a:cs typeface="+mn-cs"/>
              </a:rPr>
              <a:t>viết thêm chừng đó hàm if nữa</a:t>
            </a:r>
            <a:r>
              <a:rPr lang="vi-VN" sz="1200" b="0" i="0" kern="1200" dirty="0" smtClean="0">
                <a:solidFill>
                  <a:schemeClr val="tx1"/>
                </a:solidFill>
                <a:effectLst/>
                <a:latin typeface="+mn-lt"/>
                <a:ea typeface="+mn-ea"/>
                <a:cs typeface="+mn-cs"/>
              </a:rPr>
              <a:t>. Sau khi chỉnh sửa, ta phải compile và deploy lại class </a:t>
            </a:r>
            <a:r>
              <a:rPr lang="vi-VN" sz="1200" b="0" i="1" kern="1200" dirty="0" smtClean="0">
                <a:solidFill>
                  <a:schemeClr val="tx1"/>
                </a:solidFill>
                <a:effectLst/>
                <a:latin typeface="+mn-lt"/>
                <a:ea typeface="+mn-ea"/>
                <a:cs typeface="+mn-cs"/>
              </a:rPr>
              <a:t>AreaDisplay</a:t>
            </a:r>
            <a:r>
              <a:rPr lang="vi-VN" sz="1200" b="0" i="0" kern="1200" dirty="0" smtClean="0">
                <a:solidFill>
                  <a:schemeClr val="tx1"/>
                </a:solidFill>
                <a:effectLst/>
                <a:latin typeface="+mn-lt"/>
                <a:ea typeface="+mn-ea"/>
                <a:cs typeface="+mn-cs"/>
              </a:rPr>
              <a:t>, dài dòng và dễ lỗi phải không nào??</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E0B549F-CAE9-4CF9-BF61-9154DABB83E6}" type="slidenum">
              <a:rPr lang="en-US" smtClean="0"/>
              <a:t>12</a:t>
            </a:fld>
            <a:endParaRPr lang="en-US"/>
          </a:p>
        </p:txBody>
      </p:sp>
    </p:spTree>
    <p:extLst>
      <p:ext uri="{BB962C8B-B14F-4D97-AF65-F5344CB8AC3E}">
        <p14:creationId xmlns:p14="http://schemas.microsoft.com/office/powerpoint/2010/main" val="2639846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Ta chuyển module tính diện tích vào mỗi class. Class </a:t>
            </a:r>
            <a:r>
              <a:rPr lang="vi-VN" sz="1200" b="0" i="1" kern="1200" dirty="0" smtClean="0">
                <a:solidFill>
                  <a:schemeClr val="tx1"/>
                </a:solidFill>
                <a:effectLst/>
                <a:latin typeface="+mn-lt"/>
                <a:ea typeface="+mn-ea"/>
                <a:cs typeface="+mn-cs"/>
              </a:rPr>
              <a:t>AreaDisplay</a:t>
            </a:r>
            <a:r>
              <a:rPr lang="vi-VN" sz="1200" b="0" i="0" kern="1200" dirty="0" smtClean="0">
                <a:solidFill>
                  <a:schemeClr val="tx1"/>
                </a:solidFill>
                <a:effectLst/>
                <a:latin typeface="+mn-lt"/>
                <a:ea typeface="+mn-ea"/>
                <a:cs typeface="+mn-cs"/>
              </a:rPr>
              <a:t> chỉ việc in ra. Trong tương lai, khi thêm class mới, ta chỉ việc cho class này kế thừa class </a:t>
            </a:r>
            <a:r>
              <a:rPr lang="vi-VN" sz="1200" b="0" i="1" kern="1200" dirty="0" smtClean="0">
                <a:solidFill>
                  <a:schemeClr val="tx1"/>
                </a:solidFill>
                <a:effectLst/>
                <a:latin typeface="+mn-lt"/>
                <a:ea typeface="+mn-ea"/>
                <a:cs typeface="+mn-cs"/>
              </a:rPr>
              <a:t>Shape</a:t>
            </a:r>
            <a:r>
              <a:rPr lang="vi-VN" sz="1200" b="0" i="0" kern="1200" dirty="0" smtClean="0">
                <a:solidFill>
                  <a:schemeClr val="tx1"/>
                </a:solidFill>
                <a:effectLst/>
                <a:latin typeface="+mn-lt"/>
                <a:ea typeface="+mn-ea"/>
                <a:cs typeface="+mn-cs"/>
              </a:rPr>
              <a:t> ban đầu. Class </a:t>
            </a:r>
            <a:r>
              <a:rPr lang="vi-VN" sz="1200" b="0" i="1" kern="1200" dirty="0" smtClean="0">
                <a:solidFill>
                  <a:schemeClr val="tx1"/>
                </a:solidFill>
                <a:effectLst/>
                <a:latin typeface="+mn-lt"/>
                <a:ea typeface="+mn-ea"/>
                <a:cs typeface="+mn-cs"/>
              </a:rPr>
              <a:t>AreaDisplay</a:t>
            </a:r>
            <a:r>
              <a:rPr lang="vi-VN" sz="1200" b="0" i="0" kern="1200" dirty="0" smtClean="0">
                <a:solidFill>
                  <a:schemeClr val="tx1"/>
                </a:solidFill>
                <a:effectLst/>
                <a:latin typeface="+mn-lt"/>
                <a:ea typeface="+mn-ea"/>
                <a:cs typeface="+mn-cs"/>
              </a:rPr>
              <a:t> có thể in ra diện tích của các class thêm vào mà không cần sửa gì tới source code của nó cả.</a:t>
            </a:r>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13</a:t>
            </a:fld>
            <a:endParaRPr lang="en-US"/>
          </a:p>
        </p:txBody>
      </p:sp>
    </p:spTree>
    <p:extLst>
      <p:ext uri="{BB962C8B-B14F-4D97-AF65-F5344CB8AC3E}">
        <p14:creationId xmlns:p14="http://schemas.microsoft.com/office/powerpoint/2010/main" val="1530213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vi-VN" sz="1200" b="0" i="0" kern="1200" dirty="0" smtClean="0">
                <a:solidFill>
                  <a:schemeClr val="tx1"/>
                </a:solidFill>
                <a:effectLst/>
                <a:latin typeface="+mn-lt"/>
                <a:ea typeface="+mn-ea"/>
                <a:cs typeface="+mn-cs"/>
              </a:rPr>
              <a:t>Nguyên lý OCP </a:t>
            </a:r>
            <a:r>
              <a:rPr lang="vi-VN" sz="1200" b="1" i="0" kern="1200" dirty="0" smtClean="0">
                <a:solidFill>
                  <a:schemeClr val="tx1"/>
                </a:solidFill>
                <a:effectLst/>
                <a:latin typeface="+mn-lt"/>
                <a:ea typeface="+mn-ea"/>
                <a:cs typeface="+mn-cs"/>
              </a:rPr>
              <a:t>xuất hiện khắp mọi ngóc ngách</a:t>
            </a:r>
            <a:r>
              <a:rPr lang="vi-VN" sz="1200" b="0" i="0" kern="1200" dirty="0" smtClean="0">
                <a:solidFill>
                  <a:schemeClr val="tx1"/>
                </a:solidFill>
                <a:effectLst/>
                <a:latin typeface="+mn-lt"/>
                <a:ea typeface="+mn-ea"/>
                <a:cs typeface="+mn-cs"/>
              </a:rPr>
              <a:t> của </a:t>
            </a:r>
            <a:r>
              <a:rPr lang="vi-VN" sz="1200" b="0" i="0" u="sng" kern="1200" dirty="0" smtClean="0">
                <a:solidFill>
                  <a:schemeClr val="tx1"/>
                </a:solidFill>
                <a:effectLst/>
                <a:latin typeface="+mn-lt"/>
                <a:ea typeface="+mn-ea"/>
                <a:cs typeface="+mn-cs"/>
                <a:hlinkClick r:id="rId3"/>
              </a:rPr>
              <a:t>ngành lập trình</a:t>
            </a:r>
            <a:r>
              <a:rPr lang="vi-VN" sz="1200" b="0" i="0" kern="1200" dirty="0" smtClean="0">
                <a:solidFill>
                  <a:schemeClr val="tx1"/>
                </a:solidFill>
                <a:effectLst/>
                <a:latin typeface="+mn-lt"/>
                <a:ea typeface="+mn-ea"/>
                <a:cs typeface="+mn-cs"/>
              </a:rPr>
              <a:t>. Một ứng dụng của nguyên lý này là </a:t>
            </a:r>
            <a:r>
              <a:rPr lang="vi-VN" sz="1200" b="0" i="1" kern="1200" dirty="0" smtClean="0">
                <a:solidFill>
                  <a:schemeClr val="tx1"/>
                </a:solidFill>
                <a:effectLst/>
                <a:latin typeface="+mn-lt"/>
                <a:ea typeface="+mn-ea"/>
                <a:cs typeface="+mn-cs"/>
              </a:rPr>
              <a:t>hệ thống plug-in</a:t>
            </a:r>
            <a:r>
              <a:rPr lang="vi-VN" sz="1200" b="0" i="0" kern="1200" dirty="0" smtClean="0">
                <a:solidFill>
                  <a:schemeClr val="tx1"/>
                </a:solidFill>
                <a:effectLst/>
                <a:latin typeface="+mn-lt"/>
                <a:ea typeface="+mn-ea"/>
                <a:cs typeface="+mn-cs"/>
              </a:rPr>
              <a:t>(cho Eclipse, Visual Studio, add-on Chrome). Để thêm các tính năng mới cho phần mềm, ta chỉ việc cài đặt các plug-in này, không cần can thiệp gì đến source code sẵn có.</a:t>
            </a:r>
          </a:p>
          <a:p>
            <a:pPr fontAlgn="base"/>
            <a:r>
              <a:rPr lang="vi-VN" sz="1200" b="0" i="0" kern="1200" dirty="0" smtClean="0">
                <a:solidFill>
                  <a:schemeClr val="tx1"/>
                </a:solidFill>
                <a:effectLst/>
                <a:latin typeface="+mn-lt"/>
                <a:ea typeface="+mn-ea"/>
                <a:cs typeface="+mn-cs"/>
              </a:rPr>
              <a:t>Nguyên lý này cũng được áp dụng chặt chẽ khi viết các </a:t>
            </a:r>
            <a:r>
              <a:rPr lang="vi-VN" sz="1200" b="0" i="0" u="sng" kern="1200" dirty="0" smtClean="0">
                <a:solidFill>
                  <a:schemeClr val="tx1"/>
                </a:solidFill>
                <a:effectLst/>
                <a:latin typeface="+mn-lt"/>
                <a:ea typeface="+mn-ea"/>
                <a:cs typeface="+mn-cs"/>
                <a:hlinkClick r:id="rId4"/>
              </a:rPr>
              <a:t>thư viện/framework</a:t>
            </a:r>
            <a:r>
              <a:rPr lang="vi-VN" sz="1200" b="0" i="0" kern="1200" dirty="0" smtClean="0">
                <a:solidFill>
                  <a:schemeClr val="tx1"/>
                </a:solidFill>
                <a:effectLst/>
                <a:latin typeface="+mn-lt"/>
                <a:ea typeface="+mn-ea"/>
                <a:cs typeface="+mn-cs"/>
              </a:rPr>
              <a:t>. Ví dụ, khi sử dụng MVC, ta không được xem hay chỉnh sửa code của các class Router, Controller có sẵn, nhưng có thể viết các Controller mới, Router mới để thêm tính năng. Hoặc khi sử dụng </a:t>
            </a:r>
            <a:r>
              <a:rPr lang="vi-VN" sz="1200" b="0" i="0" u="sng" kern="1200" dirty="0" smtClean="0">
                <a:solidFill>
                  <a:schemeClr val="tx1"/>
                </a:solidFill>
                <a:effectLst/>
                <a:latin typeface="+mn-lt"/>
                <a:ea typeface="+mn-ea"/>
                <a:cs typeface="+mn-cs"/>
                <a:hlinkClick r:id="rId5"/>
              </a:rPr>
              <a:t>ionicFramework</a:t>
            </a:r>
            <a:r>
              <a:rPr lang="vi-VN" sz="1200" b="0" i="0" kern="1200" dirty="0" smtClean="0">
                <a:solidFill>
                  <a:schemeClr val="tx1"/>
                </a:solidFill>
                <a:effectLst/>
                <a:latin typeface="+mn-lt"/>
                <a:ea typeface="+mn-ea"/>
                <a:cs typeface="+mn-cs"/>
              </a:rPr>
              <a:t>, ta có thể tải thêm plug-in để sử dụng chức năng chụp hình, quét barcode mà không cần động vào source code của </a:t>
            </a:r>
            <a:r>
              <a:rPr lang="vi-VN" sz="1200" b="0" i="0" u="sng" kern="1200" dirty="0" smtClean="0">
                <a:solidFill>
                  <a:schemeClr val="tx1"/>
                </a:solidFill>
                <a:effectLst/>
                <a:latin typeface="+mn-lt"/>
                <a:ea typeface="+mn-ea"/>
                <a:cs typeface="+mn-cs"/>
                <a:hlinkClick r:id="rId5"/>
              </a:rPr>
              <a:t>ionic</a:t>
            </a:r>
            <a:r>
              <a:rPr lang="vi-VN" sz="1200" b="0" i="0" kern="1200" dirty="0" smtClean="0">
                <a:solidFill>
                  <a:schemeClr val="tx1"/>
                </a:solidFill>
                <a:effectLst/>
                <a:latin typeface="+mn-lt"/>
                <a:ea typeface="+mn-ea"/>
                <a:cs typeface="+mn-cs"/>
              </a:rPr>
              <a:t>.</a:t>
            </a:r>
          </a:p>
          <a:p>
            <a:pPr fontAlgn="base"/>
            <a:r>
              <a:rPr lang="vi-VN" sz="1200" b="0" i="0" kern="1200" dirty="0" smtClean="0">
                <a:solidFill>
                  <a:schemeClr val="tx1"/>
                </a:solidFill>
                <a:effectLst/>
                <a:latin typeface="+mn-lt"/>
                <a:ea typeface="+mn-ea"/>
                <a:cs typeface="+mn-cs"/>
              </a:rPr>
              <a:t>Khi áp dụng nguyên lý này trong thiết kế, ta cần phải </a:t>
            </a:r>
            <a:r>
              <a:rPr lang="vi-VN" sz="1200" b="1" i="0" kern="1200" dirty="0" smtClean="0">
                <a:solidFill>
                  <a:schemeClr val="tx1"/>
                </a:solidFill>
                <a:effectLst/>
                <a:latin typeface="+mn-lt"/>
                <a:ea typeface="+mn-ea"/>
                <a:cs typeface="+mn-cs"/>
              </a:rPr>
              <a:t>xác định được những thứ cần thay đổi</a:t>
            </a:r>
            <a:r>
              <a:rPr lang="vi-VN" sz="1200" b="0" i="0" kern="1200" dirty="0" smtClean="0">
                <a:solidFill>
                  <a:schemeClr val="tx1"/>
                </a:solidFill>
                <a:effectLst/>
                <a:latin typeface="+mn-lt"/>
                <a:ea typeface="+mn-ea"/>
                <a:cs typeface="+mn-cs"/>
              </a:rPr>
              <a:t>, để thiết kế phù hợp với thay đổi đó. Đây là một việc </a:t>
            </a:r>
            <a:r>
              <a:rPr lang="vi-VN" sz="1200" b="1" i="0" kern="1200" dirty="0" smtClean="0">
                <a:solidFill>
                  <a:schemeClr val="tx1"/>
                </a:solidFill>
                <a:effectLst/>
                <a:latin typeface="+mn-lt"/>
                <a:ea typeface="+mn-ea"/>
                <a:cs typeface="+mn-cs"/>
              </a:rPr>
              <a:t>rất rất KHÓ</a:t>
            </a:r>
            <a:r>
              <a:rPr lang="vi-VN" sz="1200" b="0" i="0" kern="1200" dirty="0" smtClean="0">
                <a:solidFill>
                  <a:schemeClr val="tx1"/>
                </a:solidFill>
                <a:effectLst/>
                <a:latin typeface="+mn-lt"/>
                <a:ea typeface="+mn-ea"/>
                <a:cs typeface="+mn-cs"/>
              </a:rPr>
              <a:t>, kể cả với </a:t>
            </a:r>
            <a:r>
              <a:rPr lang="vi-VN" sz="1200" b="0" i="0" u="sng" kern="1200" dirty="0" smtClean="0">
                <a:solidFill>
                  <a:schemeClr val="tx1"/>
                </a:solidFill>
                <a:effectLst/>
                <a:latin typeface="+mn-lt"/>
                <a:ea typeface="+mn-ea"/>
                <a:cs typeface="+mn-cs"/>
                <a:hlinkClick r:id="rId6"/>
              </a:rPr>
              <a:t>developer lâu năm</a:t>
            </a:r>
            <a:r>
              <a:rPr lang="vi-VN" sz="1200" b="0" i="0" kern="1200" dirty="0" smtClean="0">
                <a:solidFill>
                  <a:schemeClr val="tx1"/>
                </a:solidFill>
                <a:effectLst/>
                <a:latin typeface="+mn-lt"/>
                <a:ea typeface="+mn-ea"/>
                <a:cs typeface="+mn-cs"/>
              </a:rPr>
              <a:t>. Nó đòi hỏi nhiều </a:t>
            </a:r>
            <a:r>
              <a:rPr lang="vi-VN" sz="1200" b="0" i="0" u="sng" kern="1200" dirty="0" smtClean="0">
                <a:solidFill>
                  <a:schemeClr val="tx1"/>
                </a:solidFill>
                <a:effectLst/>
                <a:latin typeface="+mn-lt"/>
                <a:ea typeface="+mn-ea"/>
                <a:cs typeface="+mn-cs"/>
                <a:hlinkClick r:id="rId4"/>
              </a:rPr>
              <a:t>kinh nghiệm</a:t>
            </a:r>
            <a:r>
              <a:rPr lang="vi-VN" sz="1200" b="0" i="0" kern="1200" dirty="0" smtClean="0">
                <a:solidFill>
                  <a:schemeClr val="tx1"/>
                </a:solidFill>
                <a:effectLst/>
                <a:latin typeface="+mn-lt"/>
                <a:ea typeface="+mn-ea"/>
                <a:cs typeface="+mn-cs"/>
              </a:rPr>
              <a:t>, tầm nhìn và một ít khả năng dự đoán. Còn nếu như lỡ đoán sai những điều cần thay đổi thì sao? Cứ viết code cho chạy trước đã rồi refactor dần dần là được thôi =))).</a:t>
            </a:r>
          </a:p>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15</a:t>
            </a:fld>
            <a:endParaRPr lang="en-US"/>
          </a:p>
        </p:txBody>
      </p:sp>
    </p:spTree>
    <p:extLst>
      <p:ext uri="{BB962C8B-B14F-4D97-AF65-F5344CB8AC3E}">
        <p14:creationId xmlns:p14="http://schemas.microsoft.com/office/powerpoint/2010/main" val="2343075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Trong một chương trình, các object của class con có thể thay thế class cha mà không làm thay đổi tính đúng đắn của chương trình</a:t>
            </a:r>
            <a:endParaRPr lang="en-US" dirty="0" smtClean="0"/>
          </a:p>
          <a:p>
            <a:r>
              <a:rPr lang="vi-VN" sz="1200" b="0" i="0" kern="1200" dirty="0" smtClean="0">
                <a:solidFill>
                  <a:schemeClr val="tx1"/>
                </a:solidFill>
                <a:effectLst/>
                <a:latin typeface="+mn-lt"/>
                <a:ea typeface="+mn-ea"/>
                <a:cs typeface="+mn-cs"/>
              </a:rPr>
              <a:t>Theo lý thuyết, class PinConHeo là con của class Pin, khi ta dùng PinConHeo gắn vào làm Pin thì máy phải chạy bình thường. Tuy nhiên trong trường hợp của mình, class Pin Con Heo đã </a:t>
            </a:r>
            <a:r>
              <a:rPr lang="vi-VN" sz="1200" b="1" i="0" kern="1200" dirty="0" smtClean="0">
                <a:solidFill>
                  <a:schemeClr val="tx1"/>
                </a:solidFill>
                <a:effectLst/>
                <a:latin typeface="+mn-lt"/>
                <a:ea typeface="+mn-ea"/>
                <a:cs typeface="+mn-cs"/>
              </a:rPr>
              <a:t>vi phạm LSP</a:t>
            </a:r>
            <a:r>
              <a:rPr lang="vi-VN" sz="1200" b="0" i="0" kern="1200" dirty="0" smtClean="0">
                <a:solidFill>
                  <a:schemeClr val="tx1"/>
                </a:solidFill>
                <a:effectLst/>
                <a:latin typeface="+mn-lt"/>
                <a:ea typeface="+mn-ea"/>
                <a:cs typeface="+mn-cs"/>
              </a:rPr>
              <a:t> vì đã </a:t>
            </a:r>
            <a:r>
              <a:rPr lang="vi-VN" sz="1200" b="1" i="0" kern="1200" dirty="0" smtClean="0">
                <a:solidFill>
                  <a:schemeClr val="tx1"/>
                </a:solidFill>
                <a:effectLst/>
                <a:latin typeface="+mn-lt"/>
                <a:ea typeface="+mn-ea"/>
                <a:cs typeface="+mn-cs"/>
              </a:rPr>
              <a:t>gây lỗi khi dùng thay </a:t>
            </a:r>
            <a:r>
              <a:rPr lang="vi-VN" sz="1200" b="0" i="0" kern="1200" dirty="0" smtClean="0">
                <a:solidFill>
                  <a:schemeClr val="tx1"/>
                </a:solidFill>
                <a:effectLst/>
                <a:latin typeface="+mn-lt"/>
                <a:ea typeface="+mn-ea"/>
                <a:cs typeface="+mn-cs"/>
              </a:rPr>
              <a:t>cho class Pin </a:t>
            </a:r>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16</a:t>
            </a:fld>
            <a:endParaRPr lang="en-US"/>
          </a:p>
        </p:txBody>
      </p:sp>
    </p:spTree>
    <p:extLst>
      <p:ext uri="{BB962C8B-B14F-4D97-AF65-F5344CB8AC3E}">
        <p14:creationId xmlns:p14="http://schemas.microsoft.com/office/powerpoint/2010/main" val="599977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err="1" smtClean="0">
                <a:solidFill>
                  <a:schemeClr val="tx1"/>
                </a:solidFill>
                <a:effectLst/>
                <a:latin typeface="+mn-lt"/>
                <a:ea typeface="+mn-ea"/>
                <a:cs typeface="+mn-cs"/>
              </a:rPr>
              <a:t>Ví</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dụ</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thứ</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nhất</a:t>
            </a:r>
            <a:r>
              <a:rPr lang="en-US" sz="1200" b="1" i="0" kern="1200" dirty="0" smtClean="0">
                <a:solidFill>
                  <a:schemeClr val="tx1"/>
                </a:solidFill>
                <a:effectLst/>
                <a:latin typeface="+mn-lt"/>
                <a:ea typeface="+mn-ea"/>
                <a:cs typeface="+mn-cs"/>
              </a:rPr>
              <a:t>, class con </a:t>
            </a:r>
            <a:r>
              <a:rPr lang="en-US" sz="1200" b="1" i="0" kern="1200" dirty="0" err="1" smtClean="0">
                <a:solidFill>
                  <a:schemeClr val="tx1"/>
                </a:solidFill>
                <a:effectLst/>
                <a:latin typeface="+mn-lt"/>
                <a:ea typeface="+mn-ea"/>
                <a:cs typeface="+mn-cs"/>
              </a:rPr>
              <a:t>quăng</a:t>
            </a:r>
            <a:r>
              <a:rPr lang="en-US" sz="1200" b="1" i="0" kern="1200" dirty="0" smtClean="0">
                <a:solidFill>
                  <a:schemeClr val="tx1"/>
                </a:solidFill>
                <a:effectLst/>
                <a:latin typeface="+mn-lt"/>
                <a:ea typeface="+mn-ea"/>
                <a:cs typeface="+mn-cs"/>
              </a:rPr>
              <a:t> exception </a:t>
            </a:r>
            <a:r>
              <a:rPr lang="en-US" sz="1200" b="1" i="0" kern="1200" dirty="0" err="1" smtClean="0">
                <a:solidFill>
                  <a:schemeClr val="tx1"/>
                </a:solidFill>
                <a:effectLst/>
                <a:latin typeface="+mn-lt"/>
                <a:ea typeface="+mn-ea"/>
                <a:cs typeface="+mn-cs"/>
              </a:rPr>
              <a:t>khi</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gọi</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hàm</a:t>
            </a:r>
            <a:endParaRPr lang="en-US" sz="1200" b="1" i="0" kern="1200" dirty="0" smtClean="0">
              <a:solidFill>
                <a:schemeClr val="tx1"/>
              </a:solidFill>
              <a:effectLst/>
              <a:latin typeface="+mn-lt"/>
              <a:ea typeface="+mn-ea"/>
              <a:cs typeface="+mn-cs"/>
            </a:endParaRPr>
          </a:p>
          <a:p>
            <a:pPr fontAlgn="base"/>
            <a:r>
              <a:rPr lang="vi-VN" sz="1200" b="0" i="0" kern="1200" dirty="0" smtClean="0">
                <a:solidFill>
                  <a:schemeClr val="tx1"/>
                </a:solidFill>
                <a:effectLst/>
                <a:latin typeface="+mn-lt"/>
                <a:ea typeface="+mn-ea"/>
                <a:cs typeface="+mn-cs"/>
              </a:rPr>
              <a:t>Giả sử, ta muốn viết một chương trình để mô tả các loài chim bay. Đại bàng, chim sẻ, vịt bay được, nhưng chim cánh cụt không bay được. Do chim cánh cụt cũng là chim, ta cho nó kế thừa class </a:t>
            </a:r>
            <a:r>
              <a:rPr lang="vi-VN" sz="1200" b="0" i="1" kern="1200" dirty="0" smtClean="0">
                <a:solidFill>
                  <a:schemeClr val="tx1"/>
                </a:solidFill>
                <a:effectLst/>
                <a:latin typeface="+mn-lt"/>
                <a:ea typeface="+mn-ea"/>
                <a:cs typeface="+mn-cs"/>
              </a:rPr>
              <a:t>Bird</a:t>
            </a:r>
            <a:r>
              <a:rPr lang="vi-VN" sz="1200" b="0" i="0" kern="1200" dirty="0" smtClean="0">
                <a:solidFill>
                  <a:schemeClr val="tx1"/>
                </a:solidFill>
                <a:effectLst/>
                <a:latin typeface="+mn-lt"/>
                <a:ea typeface="+mn-ea"/>
                <a:cs typeface="+mn-cs"/>
              </a:rPr>
              <a:t>. Tuy nhiên, vì cánh cụt không biết bay, khi gọi hàm bay của chim cánh cụt, ta sẽ quăng </a:t>
            </a:r>
            <a:r>
              <a:rPr lang="vi-VN" sz="1200" b="0" i="1" kern="1200" dirty="0" smtClean="0">
                <a:solidFill>
                  <a:schemeClr val="tx1"/>
                </a:solidFill>
                <a:effectLst/>
                <a:latin typeface="+mn-lt"/>
                <a:ea typeface="+mn-ea"/>
                <a:cs typeface="+mn-cs"/>
              </a:rPr>
              <a:t>NoFlyException</a:t>
            </a:r>
            <a:endParaRPr lang="en-US" sz="1200" b="0" i="1" kern="1200" dirty="0" smtClean="0">
              <a:solidFill>
                <a:schemeClr val="tx1"/>
              </a:solidFill>
              <a:effectLst/>
              <a:latin typeface="+mn-lt"/>
              <a:ea typeface="+mn-ea"/>
              <a:cs typeface="+mn-cs"/>
            </a:endParaRPr>
          </a:p>
          <a:p>
            <a:pPr fontAlgn="base"/>
            <a:r>
              <a:rPr lang="vi-VN" sz="1200" b="0" i="0" kern="1200" dirty="0" smtClean="0">
                <a:solidFill>
                  <a:schemeClr val="tx1"/>
                </a:solidFill>
                <a:effectLst/>
                <a:latin typeface="+mn-lt"/>
                <a:ea typeface="+mn-ea"/>
                <a:cs typeface="+mn-cs"/>
              </a:rPr>
              <a:t>Ta tạo 1 mảng chứa các loài chim rồi duyệt các phần tử. Khi gọi hàm </a:t>
            </a:r>
            <a:r>
              <a:rPr lang="vi-VN" sz="1200" b="0" i="1" kern="1200" dirty="0" smtClean="0">
                <a:solidFill>
                  <a:schemeClr val="tx1"/>
                </a:solidFill>
                <a:effectLst/>
                <a:latin typeface="+mn-lt"/>
                <a:ea typeface="+mn-ea"/>
                <a:cs typeface="+mn-cs"/>
              </a:rPr>
              <a:t>Fly</a:t>
            </a:r>
            <a:r>
              <a:rPr lang="vi-VN" sz="1200" b="0" i="0" kern="1200" dirty="0" smtClean="0">
                <a:solidFill>
                  <a:schemeClr val="tx1"/>
                </a:solidFill>
                <a:effectLst/>
                <a:latin typeface="+mn-lt"/>
                <a:ea typeface="+mn-ea"/>
                <a:cs typeface="+mn-cs"/>
              </a:rPr>
              <a:t> của class </a:t>
            </a:r>
            <a:r>
              <a:rPr lang="vi-VN" sz="1200" b="0" i="1" kern="1200" dirty="0" smtClean="0">
                <a:solidFill>
                  <a:schemeClr val="tx1"/>
                </a:solidFill>
                <a:effectLst/>
                <a:latin typeface="+mn-lt"/>
                <a:ea typeface="+mn-ea"/>
                <a:cs typeface="+mn-cs"/>
              </a:rPr>
              <a:t>Penguin</a:t>
            </a:r>
            <a:r>
              <a:rPr lang="vi-VN" sz="1200" b="0" i="0" kern="1200" dirty="0" smtClean="0">
                <a:solidFill>
                  <a:schemeClr val="tx1"/>
                </a:solidFill>
                <a:effectLst/>
                <a:latin typeface="+mn-lt"/>
                <a:ea typeface="+mn-ea"/>
                <a:cs typeface="+mn-cs"/>
              </a:rPr>
              <a:t>, hàm này sẽ quăng lỗi. Class </a:t>
            </a:r>
            <a:r>
              <a:rPr lang="vi-VN" sz="1200" b="0" i="1" kern="1200" dirty="0" smtClean="0">
                <a:solidFill>
                  <a:schemeClr val="tx1"/>
                </a:solidFill>
                <a:effectLst/>
                <a:latin typeface="+mn-lt"/>
                <a:ea typeface="+mn-ea"/>
                <a:cs typeface="+mn-cs"/>
              </a:rPr>
              <a:t>Penguin</a:t>
            </a:r>
            <a:r>
              <a:rPr lang="vi-VN" sz="1200" b="0" i="0" kern="1200" dirty="0" smtClean="0">
                <a:solidFill>
                  <a:schemeClr val="tx1"/>
                </a:solidFill>
                <a:effectLst/>
                <a:latin typeface="+mn-lt"/>
                <a:ea typeface="+mn-ea"/>
                <a:cs typeface="+mn-cs"/>
              </a:rPr>
              <a:t>gây lỗi khi chạy, không thay thế được class cha của nó là </a:t>
            </a:r>
            <a:r>
              <a:rPr lang="vi-VN" sz="1200" b="0" i="1" kern="1200" dirty="0" smtClean="0">
                <a:solidFill>
                  <a:schemeClr val="tx1"/>
                </a:solidFill>
                <a:effectLst/>
                <a:latin typeface="+mn-lt"/>
                <a:ea typeface="+mn-ea"/>
                <a:cs typeface="+mn-cs"/>
              </a:rPr>
              <a:t>Bird</a:t>
            </a:r>
            <a:r>
              <a:rPr lang="vi-VN" sz="1200" b="0" i="0" kern="1200" dirty="0" smtClean="0">
                <a:solidFill>
                  <a:schemeClr val="tx1"/>
                </a:solidFill>
                <a:effectLst/>
                <a:latin typeface="+mn-lt"/>
                <a:ea typeface="+mn-ea"/>
                <a:cs typeface="+mn-cs"/>
              </a:rPr>
              <a:t>, do đó nó đã vi phạm LSP.</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E0B549F-CAE9-4CF9-BF61-9154DABB83E6}" type="slidenum">
              <a:rPr lang="en-US" smtClean="0"/>
              <a:t>17</a:t>
            </a:fld>
            <a:endParaRPr lang="en-US"/>
          </a:p>
        </p:txBody>
      </p:sp>
    </p:spTree>
    <p:extLst>
      <p:ext uri="{BB962C8B-B14F-4D97-AF65-F5344CB8AC3E}">
        <p14:creationId xmlns:p14="http://schemas.microsoft.com/office/powerpoint/2010/main" val="6938294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18</a:t>
            </a:fld>
            <a:endParaRPr lang="en-US"/>
          </a:p>
        </p:txBody>
      </p:sp>
    </p:spTree>
    <p:extLst>
      <p:ext uri="{BB962C8B-B14F-4D97-AF65-F5344CB8AC3E}">
        <p14:creationId xmlns:p14="http://schemas.microsoft.com/office/powerpoint/2010/main" val="1700934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err="1" smtClean="0">
                <a:solidFill>
                  <a:schemeClr val="tx1"/>
                </a:solidFill>
                <a:effectLst/>
                <a:latin typeface="+mn-lt"/>
                <a:ea typeface="+mn-ea"/>
                <a:cs typeface="+mn-cs"/>
              </a:rPr>
              <a:t>Ví</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dụ</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thứ</a:t>
            </a:r>
            <a:r>
              <a:rPr lang="en-US" sz="1200" b="1" i="0" kern="1200" dirty="0" smtClean="0">
                <a:solidFill>
                  <a:schemeClr val="tx1"/>
                </a:solidFill>
                <a:effectLst/>
                <a:latin typeface="+mn-lt"/>
                <a:ea typeface="+mn-ea"/>
                <a:cs typeface="+mn-cs"/>
              </a:rPr>
              <a:t> 2, class con </a:t>
            </a:r>
            <a:r>
              <a:rPr lang="en-US" sz="1200" b="1" i="0" kern="1200" dirty="0" err="1" smtClean="0">
                <a:solidFill>
                  <a:schemeClr val="tx1"/>
                </a:solidFill>
                <a:effectLst/>
                <a:latin typeface="+mn-lt"/>
                <a:ea typeface="+mn-ea"/>
                <a:cs typeface="+mn-cs"/>
              </a:rPr>
              <a:t>thay</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đổi</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hành</a:t>
            </a:r>
            <a:r>
              <a:rPr lang="en-US" sz="1200" b="1" i="0" kern="1200" dirty="0" smtClean="0">
                <a:solidFill>
                  <a:schemeClr val="tx1"/>
                </a:solidFill>
                <a:effectLst/>
                <a:latin typeface="+mn-lt"/>
                <a:ea typeface="+mn-ea"/>
                <a:cs typeface="+mn-cs"/>
              </a:rPr>
              <a:t> vi class cha</a:t>
            </a:r>
          </a:p>
          <a:p>
            <a:r>
              <a:rPr lang="vi-VN" sz="1200" b="0" i="0" kern="1200" dirty="0" smtClean="0">
                <a:solidFill>
                  <a:schemeClr val="tx1"/>
                </a:solidFill>
                <a:effectLst/>
                <a:latin typeface="+mn-lt"/>
                <a:ea typeface="+mn-ea"/>
                <a:cs typeface="+mn-cs"/>
              </a:rPr>
              <a:t>Đầu tiên, hãy cùng đọc đoạn code dưới đây. Ta có 2 class cho hình vuông và hình chữ nhật. Ai cũng biết hình vuông là hình chữ nhật có 2 cạnh bằng nhau, do đó ta có thể cho class </a:t>
            </a:r>
            <a:r>
              <a:rPr lang="vi-VN" sz="1200" b="0" i="1" kern="1200" dirty="0" smtClean="0">
                <a:solidFill>
                  <a:schemeClr val="tx1"/>
                </a:solidFill>
                <a:effectLst/>
                <a:latin typeface="+mn-lt"/>
                <a:ea typeface="+mn-ea"/>
                <a:cs typeface="+mn-cs"/>
              </a:rPr>
              <a:t>Square</a:t>
            </a:r>
            <a:r>
              <a:rPr lang="vi-VN" sz="1200" b="0" i="0" kern="1200" dirty="0" smtClean="0">
                <a:solidFill>
                  <a:schemeClr val="tx1"/>
                </a:solidFill>
                <a:effectLst/>
                <a:latin typeface="+mn-lt"/>
                <a:ea typeface="+mn-ea"/>
                <a:cs typeface="+mn-cs"/>
              </a:rPr>
              <a:t> kế thừa class </a:t>
            </a:r>
            <a:r>
              <a:rPr lang="vi-VN" sz="1200" b="0" i="1" kern="1200" dirty="0" smtClean="0">
                <a:solidFill>
                  <a:schemeClr val="tx1"/>
                </a:solidFill>
                <a:effectLst/>
                <a:latin typeface="+mn-lt"/>
                <a:ea typeface="+mn-ea"/>
                <a:cs typeface="+mn-cs"/>
              </a:rPr>
              <a:t>Rectangle</a:t>
            </a:r>
            <a:r>
              <a:rPr lang="vi-VN" sz="1200" b="0" i="0" kern="1200" dirty="0" smtClean="0">
                <a:solidFill>
                  <a:schemeClr val="tx1"/>
                </a:solidFill>
                <a:effectLst/>
                <a:latin typeface="+mn-lt"/>
                <a:ea typeface="+mn-ea"/>
                <a:cs typeface="+mn-cs"/>
              </a:rPr>
              <a:t> để tái sử dụng code.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Do </a:t>
            </a:r>
            <a:r>
              <a:rPr lang="en-US" sz="1200" b="0" i="0" kern="1200" dirty="0" err="1" smtClean="0">
                <a:solidFill>
                  <a:schemeClr val="tx1"/>
                </a:solidFill>
                <a:effectLst/>
                <a:latin typeface="+mn-lt"/>
                <a:ea typeface="+mn-ea"/>
                <a:cs typeface="+mn-cs"/>
              </a:rPr>
              <a:t>hình</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vuông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có</a:t>
            </a:r>
            <a:r>
              <a:rPr lang="en-US" sz="1200" b="0" i="0" kern="1200" dirty="0" smtClean="0">
                <a:solidFill>
                  <a:schemeClr val="tx1"/>
                </a:solidFill>
                <a:effectLst/>
                <a:latin typeface="+mn-lt"/>
                <a:ea typeface="+mn-ea"/>
                <a:cs typeface="+mn-cs"/>
              </a:rPr>
              <a:t> 2 </a:t>
            </a:r>
            <a:r>
              <a:rPr lang="en-US" sz="1200" b="0" i="0" kern="1200" dirty="0" err="1" smtClean="0">
                <a:solidFill>
                  <a:schemeClr val="tx1"/>
                </a:solidFill>
                <a:effectLst/>
                <a:latin typeface="+mn-lt"/>
                <a:ea typeface="+mn-ea"/>
                <a:cs typeface="+mn-cs"/>
              </a:rPr>
              <a:t>cạnh</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bằng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nhau</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mỗi</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khi</a:t>
            </a:r>
            <a:r>
              <a:rPr lang="en-US" sz="1200" b="0" i="0" kern="1200" dirty="0" smtClean="0">
                <a:solidFill>
                  <a:schemeClr val="tx1"/>
                </a:solidFill>
                <a:effectLst/>
                <a:latin typeface="+mn-lt"/>
                <a:ea typeface="+mn-ea"/>
                <a:cs typeface="+mn-cs"/>
              </a:rPr>
              <a:t> set </a:t>
            </a:r>
            <a:r>
              <a:rPr lang="en-US" sz="1200" b="0" i="0" kern="1200" dirty="0" err="1" smtClean="0">
                <a:solidFill>
                  <a:schemeClr val="tx1"/>
                </a:solidFill>
                <a:effectLst/>
                <a:latin typeface="+mn-lt"/>
                <a:ea typeface="+mn-ea"/>
                <a:cs typeface="+mn-cs"/>
              </a:rPr>
              <a:t>độ</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dài</a:t>
            </a:r>
            <a:r>
              <a:rPr lang="en-US" sz="1200" b="0" i="0" kern="1200" dirty="0" smtClean="0">
                <a:solidFill>
                  <a:schemeClr val="tx1"/>
                </a:solidFill>
                <a:effectLst/>
                <a:latin typeface="+mn-lt"/>
                <a:ea typeface="+mn-ea"/>
                <a:cs typeface="+mn-cs"/>
              </a:rPr>
              <a:t> 1 </a:t>
            </a:r>
            <a:r>
              <a:rPr lang="en-US" sz="1200" b="0" i="0" kern="1200" dirty="0" err="1" smtClean="0">
                <a:solidFill>
                  <a:schemeClr val="tx1"/>
                </a:solidFill>
                <a:effectLst/>
                <a:latin typeface="+mn-lt"/>
                <a:ea typeface="+mn-ea"/>
                <a:cs typeface="+mn-cs"/>
              </a:rPr>
              <a:t>cạnh</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thì</a:t>
            </a:r>
            <a:r>
              <a:rPr lang="en-US" sz="1200" b="0" i="0" kern="1200" dirty="0" smtClean="0">
                <a:solidFill>
                  <a:schemeClr val="tx1"/>
                </a:solidFill>
                <a:effectLst/>
                <a:latin typeface="+mn-lt"/>
                <a:ea typeface="+mn-ea"/>
                <a:cs typeface="+mn-cs"/>
              </a:rPr>
              <a:t> ta set </a:t>
            </a:r>
            <a:r>
              <a:rPr lang="en-US" sz="1200" b="0" i="0" kern="1200" dirty="0" err="1" smtClean="0">
                <a:solidFill>
                  <a:schemeClr val="tx1"/>
                </a:solidFill>
                <a:effectLst/>
                <a:latin typeface="+mn-lt"/>
                <a:ea typeface="+mn-ea"/>
                <a:cs typeface="+mn-cs"/>
              </a:rPr>
              <a:t>luôn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độ</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dài</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của</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cạnh</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còn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lại</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Tuy</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nhiên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khi</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chạy</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thử</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hành</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động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này</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đã</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thay</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đổi</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hành</a:t>
            </a:r>
            <a:r>
              <a:rPr lang="en-US" sz="1200" b="0" i="0" kern="1200" dirty="0" smtClean="0">
                <a:solidFill>
                  <a:schemeClr val="tx1"/>
                </a:solidFill>
                <a:effectLst/>
                <a:latin typeface="+mn-lt"/>
                <a:ea typeface="+mn-ea"/>
                <a:cs typeface="+mn-cs"/>
              </a:rPr>
              <a:t> vi </a:t>
            </a:r>
            <a:r>
              <a:rPr lang="en-US" sz="1200" b="0" i="0" kern="1200" dirty="0" err="1" smtClean="0">
                <a:solidFill>
                  <a:schemeClr val="tx1"/>
                </a:solidFill>
                <a:effectLst/>
                <a:latin typeface="+mn-lt"/>
                <a:ea typeface="+mn-ea"/>
                <a:cs typeface="+mn-cs"/>
              </a:rPr>
              <a:t>của</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của</a:t>
            </a:r>
            <a:r>
              <a:rPr lang="en-US" sz="1200" b="0" i="0" kern="1200" dirty="0" smtClean="0">
                <a:solidFill>
                  <a:schemeClr val="tx1"/>
                </a:solidFill>
                <a:effectLst/>
                <a:latin typeface="+mn-lt"/>
                <a:ea typeface="+mn-ea"/>
                <a:cs typeface="+mn-cs"/>
              </a:rPr>
              <a:t> class </a:t>
            </a:r>
            <a:r>
              <a:rPr lang="en-US" sz="1200" b="0" i="1" kern="1200" dirty="0" smtClean="0">
                <a:solidFill>
                  <a:schemeClr val="tx1"/>
                </a:solidFill>
                <a:effectLst/>
                <a:latin typeface="+mn-lt"/>
                <a:ea typeface="+mn-ea"/>
                <a:cs typeface="+mn-cs"/>
              </a:rPr>
              <a:t>Rectangle</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dẫn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đến</a:t>
            </a:r>
            <a:r>
              <a:rPr lang="en-US" sz="1200" b="0" i="0" kern="1200" dirty="0" smtClean="0">
                <a:solidFill>
                  <a:schemeClr val="tx1"/>
                </a:solidFill>
                <a:effectLst/>
                <a:latin typeface="+mn-lt"/>
                <a:ea typeface="+mn-ea"/>
                <a:cs typeface="+mn-cs"/>
              </a:rPr>
              <a:t> vi </a:t>
            </a:r>
            <a:r>
              <a:rPr lang="en-US" sz="1200" b="0" i="0" kern="1200" dirty="0" err="1" smtClean="0">
                <a:solidFill>
                  <a:schemeClr val="tx1"/>
                </a:solidFill>
                <a:effectLst/>
                <a:latin typeface="+mn-lt"/>
                <a:ea typeface="+mn-ea"/>
                <a:cs typeface="+mn-cs"/>
              </a:rPr>
              <a:t>phạm</a:t>
            </a:r>
            <a:r>
              <a:rPr lang="en-US" sz="1200" b="0" i="0" kern="1200" dirty="0" smtClean="0">
                <a:solidFill>
                  <a:schemeClr val="tx1"/>
                </a:solidFill>
                <a:effectLst/>
                <a:latin typeface="+mn-lt"/>
                <a:ea typeface="+mn-ea"/>
                <a:cs typeface="+mn-cs"/>
              </a:rPr>
              <a:t> LSP.</a:t>
            </a:r>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19</a:t>
            </a:fld>
            <a:endParaRPr lang="en-US"/>
          </a:p>
        </p:txBody>
      </p:sp>
    </p:spTree>
    <p:extLst>
      <p:ext uri="{BB962C8B-B14F-4D97-AF65-F5344CB8AC3E}">
        <p14:creationId xmlns:p14="http://schemas.microsoft.com/office/powerpoint/2010/main" val="18276054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Trong trường hợp này, để code không vi phạm LSP, ta phải tạo 1 class cha là class </a:t>
            </a:r>
            <a:r>
              <a:rPr lang="vi-VN" sz="1200" b="0" i="1" kern="1200" dirty="0" smtClean="0">
                <a:solidFill>
                  <a:schemeClr val="tx1"/>
                </a:solidFill>
                <a:effectLst/>
                <a:latin typeface="+mn-lt"/>
                <a:ea typeface="+mn-ea"/>
                <a:cs typeface="+mn-cs"/>
              </a:rPr>
              <a:t>Shape</a:t>
            </a:r>
            <a:r>
              <a:rPr lang="vi-VN" sz="1200" b="0" i="0" kern="1200" dirty="0" smtClean="0">
                <a:solidFill>
                  <a:schemeClr val="tx1"/>
                </a:solidFill>
                <a:effectLst/>
                <a:latin typeface="+mn-lt"/>
                <a:ea typeface="+mn-ea"/>
                <a:cs typeface="+mn-cs"/>
              </a:rPr>
              <a:t>, sau đó cho </a:t>
            </a:r>
            <a:r>
              <a:rPr lang="vi-VN" sz="1200" b="0" i="1" kern="1200" dirty="0" smtClean="0">
                <a:solidFill>
                  <a:schemeClr val="tx1"/>
                </a:solidFill>
                <a:effectLst/>
                <a:latin typeface="+mn-lt"/>
                <a:ea typeface="+mn-ea"/>
                <a:cs typeface="+mn-cs"/>
              </a:rPr>
              <a:t>Square</a:t>
            </a:r>
            <a:r>
              <a:rPr lang="vi-VN" sz="1200" b="0" i="0" kern="1200" dirty="0" smtClean="0">
                <a:solidFill>
                  <a:schemeClr val="tx1"/>
                </a:solidFill>
                <a:effectLst/>
                <a:latin typeface="+mn-lt"/>
                <a:ea typeface="+mn-ea"/>
                <a:cs typeface="+mn-cs"/>
              </a:rPr>
              <a:t> và </a:t>
            </a:r>
            <a:r>
              <a:rPr lang="vi-VN" sz="1200" b="0" i="1" kern="1200" dirty="0" smtClean="0">
                <a:solidFill>
                  <a:schemeClr val="tx1"/>
                </a:solidFill>
                <a:effectLst/>
                <a:latin typeface="+mn-lt"/>
                <a:ea typeface="+mn-ea"/>
                <a:cs typeface="+mn-cs"/>
              </a:rPr>
              <a:t>Rectangle</a:t>
            </a:r>
            <a:r>
              <a:rPr lang="vi-VN" sz="1200" b="0" i="0" kern="1200" dirty="0" smtClean="0">
                <a:solidFill>
                  <a:schemeClr val="tx1"/>
                </a:solidFill>
                <a:effectLst/>
                <a:latin typeface="+mn-lt"/>
                <a:ea typeface="+mn-ea"/>
                <a:cs typeface="+mn-cs"/>
              </a:rPr>
              <a:t> kế thừa class </a:t>
            </a:r>
            <a:r>
              <a:rPr lang="vi-VN" sz="1200" b="0" i="1" kern="1200" dirty="0" smtClean="0">
                <a:solidFill>
                  <a:schemeClr val="tx1"/>
                </a:solidFill>
                <a:effectLst/>
                <a:latin typeface="+mn-lt"/>
                <a:ea typeface="+mn-ea"/>
                <a:cs typeface="+mn-cs"/>
              </a:rPr>
              <a:t>Shape</a:t>
            </a:r>
            <a:r>
              <a:rPr lang="vi-VN" sz="1200" b="0" i="0" kern="1200" dirty="0" smtClean="0">
                <a:solidFill>
                  <a:schemeClr val="tx1"/>
                </a:solidFill>
                <a:effectLst/>
                <a:latin typeface="+mn-lt"/>
                <a:ea typeface="+mn-ea"/>
                <a:cs typeface="+mn-cs"/>
              </a:rPr>
              <a:t> này.</a:t>
            </a:r>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20</a:t>
            </a:fld>
            <a:endParaRPr lang="en-US"/>
          </a:p>
        </p:txBody>
      </p:sp>
    </p:spTree>
    <p:extLst>
      <p:ext uri="{BB962C8B-B14F-4D97-AF65-F5344CB8AC3E}">
        <p14:creationId xmlns:p14="http://schemas.microsoft.com/office/powerpoint/2010/main" val="2885621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vi-VN" sz="1200" b="0" i="0" kern="1200" dirty="0" smtClean="0">
                <a:solidFill>
                  <a:schemeClr val="tx1"/>
                </a:solidFill>
                <a:effectLst/>
                <a:latin typeface="+mn-lt"/>
                <a:ea typeface="+mn-ea"/>
                <a:cs typeface="+mn-cs"/>
              </a:rPr>
              <a:t>Đây là nguyên lý… dễ bị vi phạm nhất, nguyên nhân chủ yếu là do sự thiếu kinh nghiệm khi thiết kế class. Thuông thường, design các class dựa theo đời thật: hình vuông là hình chữ nhật, chim cánh cụt là chim. Tuy nhiên, không thể bê nguyên văn mối quan hệ này vào code. Hãy nhớ 1 điều:</a:t>
            </a:r>
          </a:p>
          <a:p>
            <a:pPr fontAlgn="base"/>
            <a:r>
              <a:rPr lang="vi-VN" sz="1200" kern="1200" dirty="0" smtClean="0">
                <a:solidFill>
                  <a:schemeClr val="tx1"/>
                </a:solidFill>
                <a:effectLst/>
                <a:latin typeface="+mn-lt"/>
                <a:ea typeface="+mn-ea"/>
                <a:cs typeface="+mn-cs"/>
              </a:rPr>
              <a:t>Trong đời sống, A là B (hình vuông là hình chữ nhật, chim cánh cụt là chim) không có nghĩa là class A nên kế thừa class B. Chỉ cho class A kế thừa class B khi class A </a:t>
            </a:r>
            <a:r>
              <a:rPr lang="vi-VN" sz="1200" b="0" kern="1200" dirty="0" smtClean="0">
                <a:solidFill>
                  <a:schemeClr val="tx1"/>
                </a:solidFill>
                <a:effectLst/>
                <a:latin typeface="+mn-lt"/>
                <a:ea typeface="+mn-ea"/>
                <a:cs typeface="+mn-cs"/>
              </a:rPr>
              <a:t>thay thế được </a:t>
            </a:r>
            <a:r>
              <a:rPr lang="vi-VN" sz="1200" kern="1200" dirty="0" smtClean="0">
                <a:solidFill>
                  <a:schemeClr val="tx1"/>
                </a:solidFill>
                <a:effectLst/>
                <a:latin typeface="+mn-lt"/>
                <a:ea typeface="+mn-ea"/>
                <a:cs typeface="+mn-cs"/>
              </a:rPr>
              <a:t>cho class B.</a:t>
            </a:r>
          </a:p>
          <a:p>
            <a:pPr fontAlgn="base"/>
            <a:r>
              <a:rPr lang="vi-VN" sz="1200" kern="1200" dirty="0" smtClean="0">
                <a:solidFill>
                  <a:schemeClr val="tx1"/>
                </a:solidFill>
                <a:effectLst/>
                <a:latin typeface="+mn-lt"/>
                <a:ea typeface="+mn-ea"/>
                <a:cs typeface="+mn-cs"/>
              </a:rPr>
              <a:t>Pin con heo là pin nhưng không thay thế được cho pin, chim cánh cụt là chim nhưng không thay thế được cho chim, do đó 2 ví dụ này vi phạm LSP.</a:t>
            </a:r>
          </a:p>
          <a:p>
            <a:pPr fontAlgn="base"/>
            <a:r>
              <a:rPr lang="vi-VN" sz="1200" b="0" i="0" kern="1200" dirty="0" smtClean="0">
                <a:solidFill>
                  <a:schemeClr val="tx1"/>
                </a:solidFill>
                <a:effectLst/>
                <a:latin typeface="+mn-lt"/>
                <a:ea typeface="+mn-ea"/>
                <a:cs typeface="+mn-cs"/>
              </a:rPr>
              <a:t>Nguyên lý này ẩn giấu trong hầu hết mọi đoạn code, giúp cho code linh hoạt và ổn định mà ta không hề hay biết. Ví dụ như trong C#, ta có thể chạy hàm foreach với </a:t>
            </a:r>
            <a:r>
              <a:rPr lang="vi-VN" sz="1200" b="0" i="1" kern="1200" dirty="0" smtClean="0">
                <a:solidFill>
                  <a:schemeClr val="tx1"/>
                </a:solidFill>
                <a:effectLst/>
                <a:latin typeface="+mn-lt"/>
                <a:ea typeface="+mn-ea"/>
                <a:cs typeface="+mn-cs"/>
              </a:rPr>
              <a:t>List, ArrayList, LinkedList</a:t>
            </a:r>
            <a:r>
              <a:rPr lang="vi-VN" sz="1200" b="0" i="0" kern="1200" dirty="0" smtClean="0">
                <a:solidFill>
                  <a:schemeClr val="tx1"/>
                </a:solidFill>
                <a:effectLst/>
                <a:latin typeface="+mn-lt"/>
                <a:ea typeface="+mn-ea"/>
                <a:cs typeface="+mn-cs"/>
              </a:rPr>
              <a:t> bởi vì chúng cùng kế thừa interface </a:t>
            </a:r>
            <a:r>
              <a:rPr lang="vi-VN" sz="1200" b="0" i="0" u="sng" kern="1200" dirty="0" smtClean="0">
                <a:solidFill>
                  <a:schemeClr val="tx1"/>
                </a:solidFill>
                <a:effectLst/>
                <a:latin typeface="+mn-lt"/>
                <a:ea typeface="+mn-ea"/>
                <a:cs typeface="+mn-cs"/>
                <a:hlinkClick r:id="rId3"/>
              </a:rPr>
              <a:t>IEnumerable</a:t>
            </a:r>
            <a:r>
              <a:rPr lang="vi-VN" sz="1200" b="0" i="0" kern="1200" dirty="0" smtClean="0">
                <a:solidFill>
                  <a:schemeClr val="tx1"/>
                </a:solidFill>
                <a:effectLst/>
                <a:latin typeface="+mn-lt"/>
                <a:ea typeface="+mn-ea"/>
                <a:cs typeface="+mn-cs"/>
              </a:rPr>
              <a:t>.  Các class </a:t>
            </a:r>
            <a:r>
              <a:rPr lang="vi-VN" sz="1200" b="0" i="1" kern="1200" dirty="0" smtClean="0">
                <a:solidFill>
                  <a:schemeClr val="tx1"/>
                </a:solidFill>
                <a:effectLst/>
                <a:latin typeface="+mn-lt"/>
                <a:ea typeface="+mn-ea"/>
                <a:cs typeface="+mn-cs"/>
              </a:rPr>
              <a:t>List, ArrayList</a:t>
            </a:r>
            <a:r>
              <a:rPr lang="vi-VN" sz="1200" b="0" i="0" kern="1200" dirty="0" smtClean="0">
                <a:solidFill>
                  <a:schemeClr val="tx1"/>
                </a:solidFill>
                <a:effectLst/>
                <a:latin typeface="+mn-lt"/>
                <a:ea typeface="+mn-ea"/>
                <a:cs typeface="+mn-cs"/>
              </a:rPr>
              <a:t>, .. đã được thiết kế đúng LSP, chúng có thể thay thế cho </a:t>
            </a:r>
            <a:r>
              <a:rPr lang="vi-VN" sz="1200" b="0" i="1" kern="1200" dirty="0" smtClean="0">
                <a:solidFill>
                  <a:schemeClr val="tx1"/>
                </a:solidFill>
                <a:effectLst/>
                <a:latin typeface="+mn-lt"/>
                <a:ea typeface="+mn-ea"/>
                <a:cs typeface="+mn-cs"/>
              </a:rPr>
              <a:t>IEnumerable</a:t>
            </a:r>
            <a:r>
              <a:rPr lang="vi-VN" sz="1200" b="0" i="0" kern="1200" dirty="0" smtClean="0">
                <a:solidFill>
                  <a:schemeClr val="tx1"/>
                </a:solidFill>
                <a:effectLst/>
                <a:latin typeface="+mn-lt"/>
                <a:ea typeface="+mn-ea"/>
                <a:cs typeface="+mn-cs"/>
              </a:rPr>
              <a:t> mà không làm hỏng tính đúng đắn của chương trình.</a:t>
            </a:r>
          </a:p>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22</a:t>
            </a:fld>
            <a:endParaRPr lang="en-US"/>
          </a:p>
        </p:txBody>
      </p:sp>
    </p:spTree>
    <p:extLst>
      <p:ext uri="{BB962C8B-B14F-4D97-AF65-F5344CB8AC3E}">
        <p14:creationId xmlns:p14="http://schemas.microsoft.com/office/powerpoint/2010/main" val="11034619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Thay</a:t>
            </a:r>
            <a:r>
              <a:rPr lang="en-US" dirty="0" smtClean="0"/>
              <a:t> </a:t>
            </a:r>
            <a:r>
              <a:rPr lang="en-US" dirty="0" err="1" smtClean="0"/>
              <a:t>vì</a:t>
            </a:r>
            <a:r>
              <a:rPr lang="en-US" dirty="0" smtClean="0"/>
              <a:t> </a:t>
            </a:r>
            <a:r>
              <a:rPr lang="en-US" dirty="0" err="1" smtClean="0"/>
              <a:t>dùng</a:t>
            </a:r>
            <a:r>
              <a:rPr lang="en-US" dirty="0" smtClean="0"/>
              <a:t> 1 interface </a:t>
            </a:r>
            <a:r>
              <a:rPr lang="en-US" dirty="0" err="1" smtClean="0"/>
              <a:t>lớn</a:t>
            </a:r>
            <a:r>
              <a:rPr lang="en-US" dirty="0" smtClean="0"/>
              <a:t>, ta </a:t>
            </a:r>
            <a:r>
              <a:rPr lang="en-US" dirty="0" err="1" smtClean="0"/>
              <a:t>nên</a:t>
            </a:r>
            <a:r>
              <a:rPr lang="en-US" dirty="0" smtClean="0"/>
              <a:t> </a:t>
            </a:r>
            <a:r>
              <a:rPr lang="en-US" dirty="0" err="1" smtClean="0"/>
              <a:t>tách</a:t>
            </a:r>
            <a:r>
              <a:rPr lang="en-US" dirty="0" smtClean="0"/>
              <a:t> </a:t>
            </a:r>
            <a:r>
              <a:rPr lang="en-US" dirty="0" err="1" smtClean="0"/>
              <a:t>thành</a:t>
            </a:r>
            <a:r>
              <a:rPr lang="en-US" dirty="0" smtClean="0"/>
              <a:t> </a:t>
            </a:r>
            <a:r>
              <a:rPr lang="en-US" dirty="0" err="1" smtClean="0"/>
              <a:t>nhiều</a:t>
            </a:r>
            <a:r>
              <a:rPr lang="en-US" dirty="0" smtClean="0"/>
              <a:t> interface </a:t>
            </a:r>
            <a:r>
              <a:rPr lang="en-US" dirty="0" err="1" smtClean="0"/>
              <a:t>nhỏ</a:t>
            </a:r>
            <a:r>
              <a:rPr lang="en-US" dirty="0" smtClean="0"/>
              <a:t>, </a:t>
            </a:r>
            <a:r>
              <a:rPr lang="en-US" dirty="0" err="1" smtClean="0"/>
              <a:t>với</a:t>
            </a:r>
            <a:r>
              <a:rPr lang="en-US" dirty="0" smtClean="0"/>
              <a:t> </a:t>
            </a:r>
            <a:r>
              <a:rPr lang="en-US" dirty="0" err="1" smtClean="0"/>
              <a:t>nhiều</a:t>
            </a:r>
            <a:r>
              <a:rPr lang="en-US" dirty="0" smtClean="0"/>
              <a:t> </a:t>
            </a:r>
            <a:r>
              <a:rPr lang="en-US" dirty="0" err="1" smtClean="0"/>
              <a:t>mục</a:t>
            </a:r>
            <a:r>
              <a:rPr lang="en-US" dirty="0" smtClean="0"/>
              <a:t> </a:t>
            </a:r>
            <a:r>
              <a:rPr lang="en-US" dirty="0" err="1" smtClean="0"/>
              <a:t>đích</a:t>
            </a:r>
            <a:r>
              <a:rPr lang="en-US" dirty="0" smtClean="0"/>
              <a:t> </a:t>
            </a:r>
            <a:r>
              <a:rPr lang="en-US" dirty="0" err="1" smtClean="0"/>
              <a:t>cụ</a:t>
            </a:r>
            <a:r>
              <a:rPr lang="en-US" dirty="0" smtClean="0"/>
              <a:t> </a:t>
            </a:r>
            <a:r>
              <a:rPr lang="en-US" dirty="0" err="1" smtClean="0"/>
              <a:t>thể</a:t>
            </a:r>
            <a:endParaRPr lang="en-US" dirty="0" smtClean="0"/>
          </a:p>
          <a:p>
            <a:r>
              <a:rPr lang="vi-VN" sz="1200" b="0" i="1" kern="1200" dirty="0" smtClean="0">
                <a:solidFill>
                  <a:schemeClr val="tx1"/>
                </a:solidFill>
                <a:effectLst/>
                <a:latin typeface="+mn-lt"/>
                <a:ea typeface="+mn-ea"/>
                <a:cs typeface="+mn-cs"/>
              </a:rPr>
              <a:t>Interface là một lớp rỗng chỉ chứa khai báo về tên phương thức không có khai báo về thuộc tính hay thứ gì khác và các phương thức này cũng là rỗng. Bởi vậy bất kỳ lớp nào sử dụng lớp interface đều phải định nghĩa các phương thức đã khai báo ở lớp interface.</a:t>
            </a:r>
            <a:endParaRPr lang="en-US" sz="1200" b="0" i="1" kern="1200" dirty="0" smtClean="0">
              <a:solidFill>
                <a:schemeClr val="tx1"/>
              </a:solidFill>
              <a:effectLst/>
              <a:latin typeface="+mn-lt"/>
              <a:ea typeface="+mn-ea"/>
              <a:cs typeface="+mn-cs"/>
            </a:endParaRPr>
          </a:p>
          <a:p>
            <a:pPr fontAlgn="base"/>
            <a:r>
              <a:rPr lang="vi-VN" sz="1200" b="0" i="0" kern="1200" dirty="0" smtClean="0">
                <a:solidFill>
                  <a:schemeClr val="tx1"/>
                </a:solidFill>
                <a:effectLst/>
                <a:latin typeface="+mn-lt"/>
                <a:ea typeface="+mn-ea"/>
                <a:cs typeface="+mn-cs"/>
              </a:rPr>
              <a:t>Để thiết kế một hệ thống linh hoạt, dễ thay đổi, các module của hệ thống nên </a:t>
            </a:r>
            <a:r>
              <a:rPr lang="vi-VN" sz="1200" b="1" i="0" kern="1200" dirty="0" smtClean="0">
                <a:solidFill>
                  <a:schemeClr val="tx1"/>
                </a:solidFill>
                <a:effectLst/>
                <a:latin typeface="+mn-lt"/>
                <a:ea typeface="+mn-ea"/>
                <a:cs typeface="+mn-cs"/>
              </a:rPr>
              <a:t>giao tiếp với nhau thông qua interface</a:t>
            </a:r>
            <a:r>
              <a:rPr lang="vi-VN" sz="1200" b="0" i="0" kern="1200" dirty="0" smtClean="0">
                <a:solidFill>
                  <a:schemeClr val="tx1"/>
                </a:solidFill>
                <a:effectLst/>
                <a:latin typeface="+mn-lt"/>
                <a:ea typeface="+mn-ea"/>
                <a:cs typeface="+mn-cs"/>
              </a:rPr>
              <a:t>. Mỗi module sẽ gọi chức năng của module khác thông qua interface mà không cần quan tâm tới implementation bên dưới.  Như đã nói ở trên, do interface chỉ chứa khai báo rỗng về method, khi một class implement một interface, class đó phải</a:t>
            </a:r>
            <a:r>
              <a:rPr lang="vi-VN" sz="1200" b="1" i="0" kern="1200" dirty="0" smtClean="0">
                <a:solidFill>
                  <a:schemeClr val="tx1"/>
                </a:solidFill>
                <a:effectLst/>
                <a:latin typeface="+mn-lt"/>
                <a:ea typeface="+mn-ea"/>
                <a:cs typeface="+mn-cs"/>
              </a:rPr>
              <a:t> implement toàn bộ các method được khai báo trong interface</a:t>
            </a:r>
            <a:r>
              <a:rPr lang="vi-VN" sz="1200" b="0" i="0" kern="1200" dirty="0" smtClean="0">
                <a:solidFill>
                  <a:schemeClr val="tx1"/>
                </a:solidFill>
                <a:effectLst/>
                <a:latin typeface="+mn-lt"/>
                <a:ea typeface="+mn-ea"/>
                <a:cs typeface="+mn-cs"/>
              </a:rPr>
              <a:t> đó.</a:t>
            </a:r>
          </a:p>
          <a:p>
            <a:pPr fontAlgn="base"/>
            <a:r>
              <a:rPr lang="vi-VN" sz="1200" b="0" i="0" kern="1200" dirty="0" smtClean="0">
                <a:solidFill>
                  <a:schemeClr val="tx1"/>
                </a:solidFill>
                <a:effectLst/>
                <a:latin typeface="+mn-lt"/>
                <a:ea typeface="+mn-ea"/>
                <a:cs typeface="+mn-cs"/>
              </a:rPr>
              <a:t>Điều này tương đương với việc nếu ta tạo ra 1 interface bự (hơn 100 method chẳng hạn), mỗi class sẽ phải implement toàn bộ 100 method đó, kể những method không bao giờ sử dụng đến. Nếu áp dụng ISP, ta sẽ chia interface này ra thành nhiều interface nhỏ, các class </a:t>
            </a:r>
            <a:r>
              <a:rPr lang="vi-VN" sz="1200" b="1" i="0" kern="1200" dirty="0" smtClean="0">
                <a:solidFill>
                  <a:schemeClr val="tx1"/>
                </a:solidFill>
                <a:effectLst/>
                <a:latin typeface="+mn-lt"/>
                <a:ea typeface="+mn-ea"/>
                <a:cs typeface="+mn-cs"/>
              </a:rPr>
              <a:t>chỉ cần implement những interface có chức năng mà chúng cần</a:t>
            </a:r>
            <a:r>
              <a:rPr lang="vi-VN" sz="1200" b="0" i="0" kern="1200" dirty="0" smtClean="0">
                <a:solidFill>
                  <a:schemeClr val="tx1"/>
                </a:solidFill>
                <a:effectLst/>
                <a:latin typeface="+mn-lt"/>
                <a:ea typeface="+mn-ea"/>
                <a:cs typeface="+mn-cs"/>
              </a:rPr>
              <a:t>, không cần phải implement những chức năng thừa nữa.</a:t>
            </a:r>
          </a:p>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23</a:t>
            </a:fld>
            <a:endParaRPr lang="en-US"/>
          </a:p>
        </p:txBody>
      </p:sp>
    </p:spTree>
    <p:extLst>
      <p:ext uri="{BB962C8B-B14F-4D97-AF65-F5344CB8AC3E}">
        <p14:creationId xmlns:p14="http://schemas.microsoft.com/office/powerpoint/2010/main" val="31452639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If we want to add more functionality, don’t add to existing interfaces, segregate them out.</a:t>
            </a:r>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24</a:t>
            </a:fld>
            <a:endParaRPr lang="en-US"/>
          </a:p>
        </p:txBody>
      </p:sp>
    </p:spTree>
    <p:extLst>
      <p:ext uri="{BB962C8B-B14F-4D97-AF65-F5344CB8AC3E}">
        <p14:creationId xmlns:p14="http://schemas.microsoft.com/office/powerpoint/2010/main" val="37766032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25</a:t>
            </a:fld>
            <a:endParaRPr lang="en-US"/>
          </a:p>
        </p:txBody>
      </p:sp>
    </p:spTree>
    <p:extLst>
      <p:ext uri="{BB962C8B-B14F-4D97-AF65-F5344CB8AC3E}">
        <p14:creationId xmlns:p14="http://schemas.microsoft.com/office/powerpoint/2010/main" val="2098861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smtClean="0">
                <a:solidFill>
                  <a:schemeClr val="tx1"/>
                </a:solidFill>
                <a:effectLst/>
                <a:latin typeface="+mn-lt"/>
                <a:ea typeface="+mn-ea"/>
                <a:cs typeface="+mn-cs"/>
              </a:rPr>
              <a:t>Áp dụng nguyên lý ISP sẽ làm hệ thống linh hoạt hơn, đồng thời giảm thiểu code thừa (do phải implement những tính năng không cần thiết). Tuy nhiên, trong thực tế vẫn có nhiều trường hợp bất khả kháng mà chúng ta phải tạo 1 interface lớn. Ví dụ: Trong một ứng dụng ASP.NET, nếu muốn implement chức năng đăng nhập/phân quyền cho user, ta phải implement iinterface </a:t>
            </a:r>
            <a:r>
              <a:rPr lang="vi-VN" sz="1200" b="0" i="1" kern="1200" dirty="0" smtClean="0">
                <a:solidFill>
                  <a:schemeClr val="tx1"/>
                </a:solidFill>
                <a:effectLst/>
                <a:latin typeface="+mn-lt"/>
                <a:ea typeface="+mn-ea"/>
                <a:cs typeface="+mn-cs"/>
              </a:rPr>
              <a:t>MembershipProvider. </a:t>
            </a:r>
            <a:r>
              <a:rPr lang="vi-VN" sz="1200" b="0" i="0" kern="1200" dirty="0" smtClean="0">
                <a:solidFill>
                  <a:schemeClr val="tx1"/>
                </a:solidFill>
                <a:effectLst/>
                <a:latin typeface="+mn-lt"/>
                <a:ea typeface="+mn-ea"/>
                <a:cs typeface="+mn-cs"/>
              </a:rPr>
              <a:t>Interface này khá là bự với hơn 27 method (Giờ có khi còn nhiều hơn).</a:t>
            </a:r>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27</a:t>
            </a:fld>
            <a:endParaRPr lang="en-US"/>
          </a:p>
        </p:txBody>
      </p:sp>
    </p:spTree>
    <p:extLst>
      <p:ext uri="{BB962C8B-B14F-4D97-AF65-F5344CB8AC3E}">
        <p14:creationId xmlns:p14="http://schemas.microsoft.com/office/powerpoint/2010/main" val="12739178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dirty="0" smtClean="0"/>
              <a:t>Các module cấp cao không nên phụ thuộc vào các module cấp thấp. Cả 2 nên phụ thuộc vào abstraction. 2. Interface (abstraction) không nên phụ thuộc vào chi tiết, mà ngược lại. (Các class giao tiếp với nhau thông qua interface, không phải thông qua implementation.)</a:t>
            </a:r>
            <a:endParaRPr lang="en-US" dirty="0" smtClean="0"/>
          </a:p>
          <a:p>
            <a:pPr marL="228600" indent="-228600">
              <a:buAutoNum type="arabicPeriod"/>
            </a:pPr>
            <a:r>
              <a:rPr lang="vi-VN" sz="1200" b="0" i="0" kern="1200" dirty="0" smtClean="0">
                <a:solidFill>
                  <a:schemeClr val="tx1"/>
                </a:solidFill>
                <a:effectLst/>
                <a:latin typeface="+mn-lt"/>
                <a:ea typeface="+mn-ea"/>
                <a:cs typeface="+mn-cs"/>
              </a:rPr>
              <a:t>Với cách code thông thường, các module cấp cao sẽ gọi các module cấp thấp. Module cấp cao sẽ </a:t>
            </a:r>
            <a:r>
              <a:rPr lang="vi-VN" sz="1200" b="1" i="0" kern="1200" dirty="0" smtClean="0">
                <a:solidFill>
                  <a:schemeClr val="tx1"/>
                </a:solidFill>
                <a:effectLst/>
                <a:latin typeface="+mn-lt"/>
                <a:ea typeface="+mn-ea"/>
                <a:cs typeface="+mn-cs"/>
              </a:rPr>
              <a:t>phụ thuộc và module cấp thấp</a:t>
            </a:r>
            <a:r>
              <a:rPr lang="vi-VN" sz="1200" b="0" i="0" kern="1200" dirty="0" smtClean="0">
                <a:solidFill>
                  <a:schemeClr val="tx1"/>
                </a:solidFill>
                <a:effectLst/>
                <a:latin typeface="+mn-lt"/>
                <a:ea typeface="+mn-ea"/>
                <a:cs typeface="+mn-cs"/>
              </a:rPr>
              <a:t>, điều đó tạo ra các dependency. Khi module cấp thấp thay đổi, module cấp cao </a:t>
            </a:r>
            <a:r>
              <a:rPr lang="vi-VN" sz="1200" b="1" i="0" kern="1200" dirty="0" smtClean="0">
                <a:solidFill>
                  <a:schemeClr val="tx1"/>
                </a:solidFill>
                <a:effectLst/>
                <a:latin typeface="+mn-lt"/>
                <a:ea typeface="+mn-ea"/>
                <a:cs typeface="+mn-cs"/>
              </a:rPr>
              <a:t>phải thay đổi theo</a:t>
            </a:r>
            <a:r>
              <a:rPr lang="vi-VN" sz="1200" b="0" i="0" kern="1200" dirty="0" smtClean="0">
                <a:solidFill>
                  <a:schemeClr val="tx1"/>
                </a:solidFill>
                <a:effectLst/>
                <a:latin typeface="+mn-lt"/>
                <a:ea typeface="+mn-ea"/>
                <a:cs typeface="+mn-cs"/>
              </a:rPr>
              <a:t>. Một thay đổi sẽ kéo theo hàng loạt thay đổi, giảm khả năng bảo trì của code.</a:t>
            </a:r>
            <a:endParaRPr lang="en-US" sz="1200" b="0" i="0" kern="1200" dirty="0" smtClean="0">
              <a:solidFill>
                <a:schemeClr val="tx1"/>
              </a:solidFill>
              <a:effectLst/>
              <a:latin typeface="+mn-lt"/>
              <a:ea typeface="+mn-ea"/>
              <a:cs typeface="+mn-cs"/>
            </a:endParaRPr>
          </a:p>
          <a:p>
            <a:pPr fontAlgn="base"/>
            <a:r>
              <a:rPr lang="vi-VN" sz="1200" b="0" i="0" kern="1200" dirty="0" smtClean="0">
                <a:solidFill>
                  <a:schemeClr val="tx1"/>
                </a:solidFill>
                <a:effectLst/>
                <a:latin typeface="+mn-lt"/>
                <a:ea typeface="+mn-ea"/>
                <a:cs typeface="+mn-cs"/>
              </a:rPr>
              <a:t>Nếu tuân theo DIP, các module cấp thấp lẫn cấp cao đều phụ thuộc vào 1 interface không đổi. Ta có thể dễ dàng thay thế, sửa đổi module cấp thấp mà không ảnh hưởng gì tới module cấp cao.</a:t>
            </a:r>
          </a:p>
          <a:p>
            <a:pPr fontAlgn="base"/>
            <a:r>
              <a:rPr lang="vi-VN" sz="1200" b="0" i="0" kern="1200" dirty="0" smtClean="0">
                <a:solidFill>
                  <a:schemeClr val="tx1"/>
                </a:solidFill>
                <a:effectLst/>
                <a:latin typeface="+mn-lt"/>
                <a:ea typeface="+mn-ea"/>
                <a:cs typeface="+mn-cs"/>
              </a:rPr>
              <a:t>Để dễ hiểu, bạn hãy nhìn vào cái mấy cái đèn điện trong nhà mình. Ở đây, module cấp cao chính là ổ điện, interface chính là </a:t>
            </a:r>
            <a:r>
              <a:rPr lang="vi-VN" sz="1200" b="1" i="0" kern="1200" dirty="0" smtClean="0">
                <a:solidFill>
                  <a:schemeClr val="tx1"/>
                </a:solidFill>
                <a:effectLst/>
                <a:latin typeface="+mn-lt"/>
                <a:ea typeface="+mn-ea"/>
                <a:cs typeface="+mn-cs"/>
              </a:rPr>
              <a:t>đuôi đèn tròn</a:t>
            </a:r>
            <a:r>
              <a:rPr lang="vi-VN" sz="1200" b="0" i="0" kern="1200" dirty="0" smtClean="0">
                <a:solidFill>
                  <a:schemeClr val="tx1"/>
                </a:solidFill>
                <a:effectLst/>
                <a:latin typeface="+mn-lt"/>
                <a:ea typeface="+mn-ea"/>
                <a:cs typeface="+mn-cs"/>
              </a:rPr>
              <a:t>, 2 module cấp thấp là </a:t>
            </a:r>
            <a:r>
              <a:rPr lang="vi-VN" sz="1200" b="1" i="0" kern="1200" dirty="0" smtClean="0">
                <a:solidFill>
                  <a:schemeClr val="tx1"/>
                </a:solidFill>
                <a:effectLst/>
                <a:latin typeface="+mn-lt"/>
                <a:ea typeface="+mn-ea"/>
                <a:cs typeface="+mn-cs"/>
              </a:rPr>
              <a:t>bóng đèn tròn </a:t>
            </a:r>
            <a:r>
              <a:rPr lang="vi-VN" sz="1200" b="0" i="0" kern="1200" dirty="0" smtClean="0">
                <a:solidFill>
                  <a:schemeClr val="tx1"/>
                </a:solidFill>
                <a:effectLst/>
                <a:latin typeface="+mn-lt"/>
                <a:ea typeface="+mn-ea"/>
                <a:cs typeface="+mn-cs"/>
              </a:rPr>
              <a:t>và </a:t>
            </a:r>
            <a:r>
              <a:rPr lang="vi-VN" sz="1200" b="1" i="0" kern="1200" dirty="0" smtClean="0">
                <a:solidFill>
                  <a:schemeClr val="tx1"/>
                </a:solidFill>
                <a:effectLst/>
                <a:latin typeface="+mn-lt"/>
                <a:ea typeface="+mn-ea"/>
                <a:cs typeface="+mn-cs"/>
              </a:rPr>
              <a:t>bóng đèn huỳnh quang.</a:t>
            </a:r>
            <a:endParaRPr lang="vi-VN" sz="1200" b="0" i="0" kern="1200" dirty="0" smtClean="0">
              <a:solidFill>
                <a:schemeClr val="tx1"/>
              </a:solidFill>
              <a:effectLst/>
              <a:latin typeface="+mn-lt"/>
              <a:ea typeface="+mn-ea"/>
              <a:cs typeface="+mn-cs"/>
            </a:endParaRPr>
          </a:p>
          <a:p>
            <a:pPr fontAlgn="base"/>
            <a:r>
              <a:rPr lang="vi-VN" sz="1200" b="0" i="0" kern="1200" dirty="0" smtClean="0">
                <a:solidFill>
                  <a:schemeClr val="tx1"/>
                </a:solidFill>
                <a:effectLst/>
                <a:latin typeface="+mn-lt"/>
                <a:ea typeface="+mn-ea"/>
                <a:cs typeface="+mn-cs"/>
              </a:rPr>
              <a:t>Hai module này đều kế thừa interface đuổi tròn,</a:t>
            </a:r>
            <a:r>
              <a:rPr lang="vi-VN" sz="1200" b="1" i="0" kern="1200" dirty="0" smtClean="0">
                <a:solidFill>
                  <a:schemeClr val="tx1"/>
                </a:solidFill>
                <a:effectLst/>
                <a:latin typeface="+mn-lt"/>
                <a:ea typeface="+mn-ea"/>
                <a:cs typeface="+mn-cs"/>
              </a:rPr>
              <a:t> </a:t>
            </a:r>
            <a:r>
              <a:rPr lang="vi-VN" sz="1200" b="0" i="0" kern="1200" dirty="0" smtClean="0">
                <a:solidFill>
                  <a:schemeClr val="tx1"/>
                </a:solidFill>
                <a:effectLst/>
                <a:latin typeface="+mn-lt"/>
                <a:ea typeface="+mn-ea"/>
                <a:cs typeface="+mn-cs"/>
              </a:rPr>
              <a:t>Ta có thể </a:t>
            </a:r>
            <a:r>
              <a:rPr lang="vi-VN" sz="1200" b="1" i="0" kern="1200" dirty="0" smtClean="0">
                <a:solidFill>
                  <a:schemeClr val="tx1"/>
                </a:solidFill>
                <a:effectLst/>
                <a:latin typeface="+mn-lt"/>
                <a:ea typeface="+mn-ea"/>
                <a:cs typeface="+mn-cs"/>
              </a:rPr>
              <a:t>dễ dàng thay đổi</a:t>
            </a:r>
            <a:r>
              <a:rPr lang="vi-VN" sz="1200" b="0" i="0" kern="1200" dirty="0" smtClean="0">
                <a:solidFill>
                  <a:schemeClr val="tx1"/>
                </a:solidFill>
                <a:effectLst/>
                <a:latin typeface="+mn-lt"/>
                <a:ea typeface="+mn-ea"/>
                <a:cs typeface="+mn-cs"/>
              </a:rPr>
              <a:t> 2 loại bóng vì module cấp cao (ổ điện) chỉ quan tâm tới interface (đuôi tròn), không quan tâm tới implementation (bóng đèn tròn hay huỳnh quang).</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28</a:t>
            </a:fld>
            <a:endParaRPr lang="en-US"/>
          </a:p>
        </p:txBody>
      </p:sp>
    </p:spTree>
    <p:extLst>
      <p:ext uri="{BB962C8B-B14F-4D97-AF65-F5344CB8AC3E}">
        <p14:creationId xmlns:p14="http://schemas.microsoft.com/office/powerpoint/2010/main" val="2046656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29</a:t>
            </a:fld>
            <a:endParaRPr lang="en-US"/>
          </a:p>
        </p:txBody>
      </p:sp>
    </p:spTree>
    <p:extLst>
      <p:ext uri="{BB962C8B-B14F-4D97-AF65-F5344CB8AC3E}">
        <p14:creationId xmlns:p14="http://schemas.microsoft.com/office/powerpoint/2010/main" val="1995714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30</a:t>
            </a:fld>
            <a:endParaRPr lang="en-US"/>
          </a:p>
        </p:txBody>
      </p:sp>
    </p:spTree>
    <p:extLst>
      <p:ext uri="{BB962C8B-B14F-4D97-AF65-F5344CB8AC3E}">
        <p14:creationId xmlns:p14="http://schemas.microsoft.com/office/powerpoint/2010/main" val="2741478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vi-VN" dirty="0" smtClean="0"/>
              <a:t>ƯU ĐIỂMKHUYẾT ĐIỂM</a:t>
            </a:r>
            <a:r>
              <a:rPr lang="vi-VN" sz="1200" b="0" kern="1200" dirty="0" smtClean="0">
                <a:solidFill>
                  <a:schemeClr val="tx1"/>
                </a:solidFill>
                <a:effectLst/>
                <a:latin typeface="+mn-lt"/>
                <a:ea typeface="+mn-ea"/>
                <a:cs typeface="+mn-cs"/>
              </a:rPr>
              <a:t>Giảm sự kết dính giữa các module</a:t>
            </a:r>
          </a:p>
          <a:p>
            <a:pPr fontAlgn="base"/>
            <a:r>
              <a:rPr lang="vi-VN" sz="1200" b="0" kern="1200" dirty="0" smtClean="0">
                <a:solidFill>
                  <a:schemeClr val="tx1"/>
                </a:solidFill>
                <a:effectLst/>
                <a:latin typeface="+mn-lt"/>
                <a:ea typeface="+mn-ea"/>
                <a:cs typeface="+mn-cs"/>
              </a:rPr>
              <a:t>Code dễ bảo trì, dễ thay thế module</a:t>
            </a:r>
          </a:p>
          <a:p>
            <a:pPr fontAlgn="base"/>
            <a:r>
              <a:rPr lang="vi-VN" sz="1200" b="0" kern="1200" dirty="0" smtClean="0">
                <a:solidFill>
                  <a:schemeClr val="tx1"/>
                </a:solidFill>
                <a:effectLst/>
                <a:latin typeface="+mn-lt"/>
                <a:ea typeface="+mn-ea"/>
                <a:cs typeface="+mn-cs"/>
              </a:rPr>
              <a:t>Rất dễ test và viết </a:t>
            </a:r>
            <a:r>
              <a:rPr lang="vi-VN" sz="1200" b="0" u="sng" kern="1200" dirty="0" smtClean="0">
                <a:solidFill>
                  <a:schemeClr val="tx1"/>
                </a:solidFill>
                <a:effectLst/>
                <a:latin typeface="+mn-lt"/>
                <a:ea typeface="+mn-ea"/>
                <a:cs typeface="+mn-cs"/>
                <a:hlinkClick r:id="rId3"/>
              </a:rPr>
              <a:t>Unit Test</a:t>
            </a:r>
            <a:endParaRPr lang="vi-VN" sz="1200" b="0" kern="1200" dirty="0" smtClean="0">
              <a:solidFill>
                <a:schemeClr val="tx1"/>
              </a:solidFill>
              <a:effectLst/>
              <a:latin typeface="+mn-lt"/>
              <a:ea typeface="+mn-ea"/>
              <a:cs typeface="+mn-cs"/>
            </a:endParaRPr>
          </a:p>
          <a:p>
            <a:pPr fontAlgn="base"/>
            <a:r>
              <a:rPr lang="vi-VN" sz="1200" b="0" kern="1200" dirty="0" smtClean="0">
                <a:solidFill>
                  <a:schemeClr val="tx1"/>
                </a:solidFill>
                <a:effectLst/>
                <a:latin typeface="+mn-lt"/>
                <a:ea typeface="+mn-ea"/>
                <a:cs typeface="+mn-cs"/>
              </a:rPr>
              <a:t>Khái niệm DI khá “khó tiêu”, các developer mới sẽ gặp khó khăn khi học</a:t>
            </a:r>
          </a:p>
          <a:p>
            <a:pPr fontAlgn="base"/>
            <a:r>
              <a:rPr lang="vi-VN" sz="1200" b="0" kern="1200" dirty="0" smtClean="0">
                <a:solidFill>
                  <a:schemeClr val="tx1"/>
                </a:solidFill>
                <a:effectLst/>
                <a:latin typeface="+mn-lt"/>
                <a:ea typeface="+mn-ea"/>
                <a:cs typeface="+mn-cs"/>
              </a:rPr>
              <a:t>Sử dụng interface nên đôi khi sẽ khó debug, do không biết chính xác module nào được gọi</a:t>
            </a:r>
          </a:p>
          <a:p>
            <a:pPr fontAlgn="base"/>
            <a:r>
              <a:rPr lang="vi-VN" sz="1200" b="0" kern="1200" dirty="0" smtClean="0">
                <a:solidFill>
                  <a:schemeClr val="tx1"/>
                </a:solidFill>
                <a:effectLst/>
                <a:latin typeface="+mn-lt"/>
                <a:ea typeface="+mn-ea"/>
                <a:cs typeface="+mn-cs"/>
              </a:rPr>
              <a:t>Làm tăng độ phức tạp của code</a:t>
            </a:r>
          </a:p>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32</a:t>
            </a:fld>
            <a:endParaRPr lang="en-US"/>
          </a:p>
        </p:txBody>
      </p:sp>
    </p:spTree>
    <p:extLst>
      <p:ext uri="{BB962C8B-B14F-4D97-AF65-F5344CB8AC3E}">
        <p14:creationId xmlns:p14="http://schemas.microsoft.com/office/powerpoint/2010/main" val="28657078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0B549F-CAE9-4CF9-BF61-9154DABB83E6}" type="slidenum">
              <a:rPr lang="en-US" smtClean="0"/>
              <a:t>33</a:t>
            </a:fld>
            <a:endParaRPr lang="en-US"/>
          </a:p>
        </p:txBody>
      </p:sp>
    </p:spTree>
    <p:extLst>
      <p:ext uri="{BB962C8B-B14F-4D97-AF65-F5344CB8AC3E}">
        <p14:creationId xmlns:p14="http://schemas.microsoft.com/office/powerpoint/2010/main" val="1352461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97704A9-6888-46CF-824D-E30916DCB7AD}" type="datetime1">
              <a:rPr lang="en-US" smtClean="0"/>
              <a:t>25-May-2020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823275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66AAFE93-6DB2-462F-BF93-B9B6B512D4E6}" type="datetime1">
              <a:rPr lang="en-US" smtClean="0"/>
              <a:t>25-May-2020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680726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D03C6B5-18D2-446F-9B18-337D9B47F2D6}" type="datetime1">
              <a:rPr lang="en-US" smtClean="0"/>
              <a:t>25-May-2020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3599058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97191D5-D96E-47C1-A686-E2F41D72470B}" type="datetime1">
              <a:rPr lang="en-US" smtClean="0"/>
              <a:t>25-May-2020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1702493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B92C2EC-BE1B-4E18-A4B5-C5A630FD304D}" type="datetime1">
              <a:rPr lang="en-US" smtClean="0"/>
              <a:t>25-May-2020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2117284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9AE81CD2-5AF0-4B85-B354-717559789439}" type="datetime1">
              <a:rPr lang="en-US" smtClean="0"/>
              <a:t>25-May-2020</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3276889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EF2078D-1A5B-41E5-9C41-59E7F5880665}" type="datetime1">
              <a:rPr lang="en-US" smtClean="0"/>
              <a:t>25-May-2020</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1359489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8C5026B0-151B-41B8-B80A-B493ADDEC40C}" type="datetime1">
              <a:rPr lang="en-US" smtClean="0"/>
              <a:t>25-May-2020</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4221452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3FC913-D3E6-4BBA-BEAE-CCF70498429B}" type="datetime1">
              <a:rPr lang="en-US" smtClean="0"/>
              <a:t>25-May-2020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2786876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1B0099-E1E2-4640-BD93-C6A4BB03B298}" type="datetime1">
              <a:rPr lang="en-US" smtClean="0"/>
              <a:t>25-May-2020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4042261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9064AA9-05E3-475A-A83A-52732BB75578}" type="datetime1">
              <a:rPr lang="en-US" smtClean="0"/>
              <a:t>25-May-2020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3886229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646BE5-CA12-47C0-BB38-72A2A3824199}" type="datetime1">
              <a:rPr lang="en-US" smtClean="0"/>
              <a:t>25-May-2020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37A6DC-F90C-4641-9A63-957CC63867F2}"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316257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7414CED-1C43-4DE5-819D-6818185DFB02}" type="datetime1">
              <a:rPr lang="en-US" smtClean="0"/>
              <a:t>25-May-2020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1825795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8A7C9CD-9995-4740-AFA1-FA667BD0767C}" type="datetime1">
              <a:rPr lang="en-US" smtClean="0"/>
              <a:t>25-May-2020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1113808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74FFA57-8321-4127-8DFB-91508A7DFA33}" type="datetime1">
              <a:rPr lang="en-US" smtClean="0"/>
              <a:t>25-May-2020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34625102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FB8810D-37EB-4954-A29E-C98DB9A2868B}" type="datetime1">
              <a:rPr lang="en-US" smtClean="0"/>
              <a:t>25-May-2020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1991540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61E2E01-2EB0-4531-A421-B50FE74BEB77}" type="datetime1">
              <a:rPr lang="en-US" smtClean="0"/>
              <a:t>25-May-2020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37A6DC-F90C-4641-9A63-957CC63867F2}" type="slidenum">
              <a:rPr lang="en-US" smtClean="0"/>
              <a:t>‹#›</a:t>
            </a:fld>
            <a:endParaRPr lang="en-US"/>
          </a:p>
        </p:txBody>
      </p:sp>
    </p:spTree>
    <p:extLst>
      <p:ext uri="{BB962C8B-B14F-4D97-AF65-F5344CB8AC3E}">
        <p14:creationId xmlns:p14="http://schemas.microsoft.com/office/powerpoint/2010/main" val="1146257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E0F0465-4922-4239-ADE1-6332CC51C6CD}" type="datetime1">
              <a:rPr lang="en-US" smtClean="0"/>
              <a:t>25-May-2020</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E37A6DC-F90C-4641-9A63-957CC63867F2}" type="slidenum">
              <a:rPr lang="en-US" smtClean="0"/>
              <a:t>‹#›</a:t>
            </a:fld>
            <a:endParaRPr lang="en-US"/>
          </a:p>
        </p:txBody>
      </p:sp>
    </p:spTree>
    <p:extLst>
      <p:ext uri="{BB962C8B-B14F-4D97-AF65-F5344CB8AC3E}">
        <p14:creationId xmlns:p14="http://schemas.microsoft.com/office/powerpoint/2010/main" val="338702943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Robert_Cecil_Mart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JLR P-IVI SOLID</a:t>
            </a:r>
            <a:endParaRPr lang="en-US" dirty="0"/>
          </a:p>
        </p:txBody>
      </p:sp>
      <p:sp>
        <p:nvSpPr>
          <p:cNvPr id="3" name="Subtitle 2"/>
          <p:cNvSpPr>
            <a:spLocks noGrp="1"/>
          </p:cNvSpPr>
          <p:nvPr>
            <p:ph type="subTitle" idx="1"/>
          </p:nvPr>
        </p:nvSpPr>
        <p:spPr/>
        <p:txBody>
          <a:bodyPr/>
          <a:lstStyle/>
          <a:p>
            <a:pPr algn="r"/>
            <a:r>
              <a:rPr lang="en-US" dirty="0" smtClean="0"/>
              <a:t>LGE Media team</a:t>
            </a:r>
          </a:p>
          <a:p>
            <a:pPr algn="r"/>
            <a:r>
              <a:rPr lang="en-US" dirty="0" smtClean="0"/>
              <a:t>DAO THANH TUNG</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1</a:t>
            </a:fld>
            <a:endParaRPr lang="en-US"/>
          </a:p>
        </p:txBody>
      </p:sp>
    </p:spTree>
    <p:extLst>
      <p:ext uri="{BB962C8B-B14F-4D97-AF65-F5344CB8AC3E}">
        <p14:creationId xmlns:p14="http://schemas.microsoft.com/office/powerpoint/2010/main" val="38093486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 Content</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899412371"/>
              </p:ext>
            </p:extLst>
          </p:nvPr>
        </p:nvGraphicFramePr>
        <p:xfrm>
          <a:off x="1103313" y="2052638"/>
          <a:ext cx="8947150" cy="41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fld id="{0E37A6DC-F90C-4641-9A63-957CC63867F2}" type="slidenum">
              <a:rPr lang="en-US" smtClean="0"/>
              <a:t>2</a:t>
            </a:fld>
            <a:endParaRPr lang="en-US"/>
          </a:p>
        </p:txBody>
      </p:sp>
    </p:spTree>
    <p:extLst>
      <p:ext uri="{BB962C8B-B14F-4D97-AF65-F5344CB8AC3E}">
        <p14:creationId xmlns:p14="http://schemas.microsoft.com/office/powerpoint/2010/main" val="8275107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r>
              <a:rPr lang="en-US" dirty="0" smtClean="0"/>
              <a:t>II. </a:t>
            </a:r>
            <a:r>
              <a:rPr lang="en-US" i="1" dirty="0" smtClean="0"/>
              <a:t>Overview</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3</a:t>
            </a:fld>
            <a:endParaRPr lang="en-US"/>
          </a:p>
        </p:txBody>
      </p:sp>
      <p:sp>
        <p:nvSpPr>
          <p:cNvPr id="3" name="Content Placeholder 2"/>
          <p:cNvSpPr>
            <a:spLocks noGrp="1"/>
          </p:cNvSpPr>
          <p:nvPr>
            <p:ph idx="1"/>
          </p:nvPr>
        </p:nvSpPr>
        <p:spPr>
          <a:xfrm>
            <a:off x="1103312" y="2052918"/>
            <a:ext cx="8946541" cy="4195481"/>
          </a:xfrm>
        </p:spPr>
        <p:txBody>
          <a:bodyPr/>
          <a:lstStyle/>
          <a:p>
            <a:r>
              <a:rPr lang="en-US" dirty="0" smtClean="0"/>
              <a:t>Conception</a:t>
            </a:r>
          </a:p>
          <a:p>
            <a:pPr lvl="1"/>
            <a:r>
              <a:rPr lang="en-US" b="1" dirty="0"/>
              <a:t>S.O.L.I.D</a:t>
            </a:r>
            <a:r>
              <a:rPr lang="en-US" dirty="0"/>
              <a:t> is an acronym for the </a:t>
            </a:r>
            <a:r>
              <a:rPr lang="en-US" b="1" dirty="0"/>
              <a:t>first five object-oriented design</a:t>
            </a:r>
            <a:r>
              <a:rPr lang="en-US" dirty="0"/>
              <a:t>(</a:t>
            </a:r>
            <a:r>
              <a:rPr lang="en-US" b="1" dirty="0"/>
              <a:t>OOD</a:t>
            </a:r>
            <a:r>
              <a:rPr lang="en-US" dirty="0"/>
              <a:t>)** principles** by Robert C. Martin, popularly known as </a:t>
            </a:r>
            <a:r>
              <a:rPr lang="en-US" dirty="0">
                <a:hlinkClick r:id="rId3"/>
              </a:rPr>
              <a:t>Uncle Bob</a:t>
            </a:r>
            <a:r>
              <a:rPr lang="en-US" dirty="0" smtClean="0"/>
              <a:t>.</a:t>
            </a:r>
          </a:p>
          <a:p>
            <a:r>
              <a:rPr lang="en-US" dirty="0" smtClean="0"/>
              <a:t>Why?</a:t>
            </a:r>
          </a:p>
          <a:p>
            <a:pPr lvl="1"/>
            <a:r>
              <a:rPr lang="en-US" dirty="0"/>
              <a:t>develop </a:t>
            </a:r>
            <a:r>
              <a:rPr lang="en-US" dirty="0" smtClean="0"/>
              <a:t>software: </a:t>
            </a:r>
            <a:r>
              <a:rPr lang="en-US" dirty="0"/>
              <a:t>easy to maintain and </a:t>
            </a:r>
            <a:r>
              <a:rPr lang="en-US" dirty="0" smtClean="0"/>
              <a:t>extend</a:t>
            </a:r>
          </a:p>
          <a:p>
            <a:pPr lvl="1"/>
            <a:r>
              <a:rPr lang="en-US" dirty="0"/>
              <a:t>avoid code </a:t>
            </a:r>
            <a:r>
              <a:rPr lang="en-US" dirty="0" smtClean="0"/>
              <a:t>smells</a:t>
            </a:r>
          </a:p>
          <a:p>
            <a:pPr lvl="1"/>
            <a:r>
              <a:rPr lang="en-US" dirty="0"/>
              <a:t>easily refactor </a:t>
            </a:r>
            <a:r>
              <a:rPr lang="en-US" dirty="0" smtClean="0"/>
              <a:t>code</a:t>
            </a:r>
          </a:p>
          <a:p>
            <a:pPr lvl="1"/>
            <a:endParaRPr lang="en-US" dirty="0"/>
          </a:p>
        </p:txBody>
      </p:sp>
    </p:spTree>
    <p:extLst>
      <p:ext uri="{BB962C8B-B14F-4D97-AF65-F5344CB8AC3E}">
        <p14:creationId xmlns:p14="http://schemas.microsoft.com/office/powerpoint/2010/main" val="36690982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r>
              <a:rPr lang="en-US" dirty="0" smtClean="0"/>
              <a:t>III. </a:t>
            </a:r>
            <a:r>
              <a:rPr lang="en-US" i="1" dirty="0" smtClean="0"/>
              <a:t>Detail</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275576414"/>
              </p:ext>
            </p:extLst>
          </p:nvPr>
        </p:nvGraphicFramePr>
        <p:xfrm>
          <a:off x="1103313" y="2052638"/>
          <a:ext cx="8947150" cy="41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fld id="{0E37A6DC-F90C-4641-9A63-957CC63867F2}" type="slidenum">
              <a:rPr lang="en-US" smtClean="0"/>
              <a:t>4</a:t>
            </a:fld>
            <a:endParaRPr lang="en-US"/>
          </a:p>
        </p:txBody>
      </p:sp>
    </p:spTree>
    <p:extLst>
      <p:ext uri="{BB962C8B-B14F-4D97-AF65-F5344CB8AC3E}">
        <p14:creationId xmlns:p14="http://schemas.microsoft.com/office/powerpoint/2010/main" val="21801092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a:t>
            </a:r>
            <a:r>
              <a:rPr lang="en-US" i="1" dirty="0" smtClean="0"/>
              <a:t>Single-</a:t>
            </a:r>
            <a:r>
              <a:rPr lang="en-US" i="1" dirty="0" err="1" smtClean="0"/>
              <a:t>responsiblity</a:t>
            </a:r>
            <a:endParaRPr lang="en-US" dirty="0"/>
          </a:p>
        </p:txBody>
      </p:sp>
      <p:sp>
        <p:nvSpPr>
          <p:cNvPr id="3" name="Content Placeholder 2"/>
          <p:cNvSpPr>
            <a:spLocks noGrp="1"/>
          </p:cNvSpPr>
          <p:nvPr>
            <p:ph idx="1"/>
          </p:nvPr>
        </p:nvSpPr>
        <p:spPr/>
        <p:txBody>
          <a:bodyPr/>
          <a:lstStyle/>
          <a:p>
            <a:r>
              <a:rPr lang="en-US" dirty="0"/>
              <a:t>A class should have one and only one reason to change, meaning that a class should have only one job.</a:t>
            </a:r>
          </a:p>
        </p:txBody>
      </p:sp>
      <p:sp>
        <p:nvSpPr>
          <p:cNvPr id="4" name="Slide Number Placeholder 3"/>
          <p:cNvSpPr>
            <a:spLocks noGrp="1"/>
          </p:cNvSpPr>
          <p:nvPr>
            <p:ph type="sldNum" sz="quarter" idx="12"/>
          </p:nvPr>
        </p:nvSpPr>
        <p:spPr/>
        <p:txBody>
          <a:bodyPr/>
          <a:lstStyle/>
          <a:p>
            <a:fld id="{0E37A6DC-F90C-4641-9A63-957CC63867F2}" type="slidenum">
              <a:rPr lang="en-US" smtClean="0"/>
              <a:t>5</a:t>
            </a:fld>
            <a:endParaRPr lang="en-US"/>
          </a:p>
        </p:txBody>
      </p:sp>
      <p:pic>
        <p:nvPicPr>
          <p:cNvPr id="2050" name="Picture 2" descr="https://toidicodedao.files.wordpress.com/2016/04/singleresponsibility.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6744" y="2906023"/>
            <a:ext cx="333375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0478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Bad way</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6</a:t>
            </a:fld>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3"/>
          <a:stretch>
            <a:fillRect/>
          </a:stretch>
        </p:blipFill>
        <p:spPr>
          <a:xfrm>
            <a:off x="3833497" y="1014075"/>
            <a:ext cx="4525006" cy="4829849"/>
          </a:xfrm>
          <a:prstGeom prst="rect">
            <a:avLst/>
          </a:prstGeom>
        </p:spPr>
      </p:pic>
    </p:spTree>
    <p:extLst>
      <p:ext uri="{BB962C8B-B14F-4D97-AF65-F5344CB8AC3E}">
        <p14:creationId xmlns:p14="http://schemas.microsoft.com/office/powerpoint/2010/main" val="27259992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Good way</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0E37A6DC-F90C-4641-9A63-957CC63867F2}" type="slidenum">
              <a:rPr lang="en-US" smtClean="0"/>
              <a:t>7</a:t>
            </a:fld>
            <a:endParaRPr lang="en-US"/>
          </a:p>
        </p:txBody>
      </p:sp>
      <p:pic>
        <p:nvPicPr>
          <p:cNvPr id="6" name="Picture 5"/>
          <p:cNvPicPr>
            <a:picLocks noChangeAspect="1"/>
          </p:cNvPicPr>
          <p:nvPr/>
        </p:nvPicPr>
        <p:blipFill>
          <a:blip r:embed="rId3"/>
          <a:stretch>
            <a:fillRect/>
          </a:stretch>
        </p:blipFill>
        <p:spPr>
          <a:xfrm>
            <a:off x="3843023" y="351995"/>
            <a:ext cx="4505954" cy="6154009"/>
          </a:xfrm>
          <a:prstGeom prst="rect">
            <a:avLst/>
          </a:prstGeom>
        </p:spPr>
      </p:pic>
    </p:spTree>
    <p:extLst>
      <p:ext uri="{BB962C8B-B14F-4D97-AF65-F5344CB8AC3E}">
        <p14:creationId xmlns:p14="http://schemas.microsoft.com/office/powerpoint/2010/main" val="27343098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a:t>
            </a:r>
            <a:endParaRPr lang="en-US" dirty="0"/>
          </a:p>
        </p:txBody>
      </p:sp>
      <p:pic>
        <p:nvPicPr>
          <p:cNvPr id="5" name="Content Placeholder 4"/>
          <p:cNvPicPr>
            <a:picLocks noGrp="1" noChangeAspect="1"/>
          </p:cNvPicPr>
          <p:nvPr>
            <p:ph idx="1"/>
          </p:nvPr>
        </p:nvPicPr>
        <p:blipFill>
          <a:blip r:embed="rId3"/>
          <a:stretch>
            <a:fillRect/>
          </a:stretch>
        </p:blipFill>
        <p:spPr>
          <a:xfrm>
            <a:off x="717834" y="1853248"/>
            <a:ext cx="4525006" cy="1771897"/>
          </a:xfrm>
          <a:prstGeom prst="rect">
            <a:avLst/>
          </a:prstGeom>
        </p:spPr>
      </p:pic>
      <p:sp>
        <p:nvSpPr>
          <p:cNvPr id="4" name="Slide Number Placeholder 3"/>
          <p:cNvSpPr>
            <a:spLocks noGrp="1"/>
          </p:cNvSpPr>
          <p:nvPr>
            <p:ph type="sldNum" sz="quarter" idx="12"/>
          </p:nvPr>
        </p:nvSpPr>
        <p:spPr/>
        <p:txBody>
          <a:bodyPr/>
          <a:lstStyle/>
          <a:p>
            <a:fld id="{0E37A6DC-F90C-4641-9A63-957CC63867F2}" type="slidenum">
              <a:rPr lang="en-US" smtClean="0"/>
              <a:t>8</a:t>
            </a:fld>
            <a:endParaRPr lang="en-US"/>
          </a:p>
        </p:txBody>
      </p:sp>
      <p:pic>
        <p:nvPicPr>
          <p:cNvPr id="6" name="Picture 5"/>
          <p:cNvPicPr>
            <a:picLocks noChangeAspect="1"/>
          </p:cNvPicPr>
          <p:nvPr/>
        </p:nvPicPr>
        <p:blipFill>
          <a:blip r:embed="rId4"/>
          <a:stretch>
            <a:fillRect/>
          </a:stretch>
        </p:blipFill>
        <p:spPr>
          <a:xfrm>
            <a:off x="6703838" y="1497218"/>
            <a:ext cx="4486901" cy="3915321"/>
          </a:xfrm>
          <a:prstGeom prst="rect">
            <a:avLst/>
          </a:prstGeom>
        </p:spPr>
      </p:pic>
    </p:spTree>
    <p:extLst>
      <p:ext uri="{BB962C8B-B14F-4D97-AF65-F5344CB8AC3E}">
        <p14:creationId xmlns:p14="http://schemas.microsoft.com/office/powerpoint/2010/main" val="3773252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P-IVI application</a:t>
            </a:r>
            <a:endParaRPr lang="en-US" dirty="0"/>
          </a:p>
        </p:txBody>
      </p:sp>
      <p:sp>
        <p:nvSpPr>
          <p:cNvPr id="3" name="Content Placeholder 2"/>
          <p:cNvSpPr>
            <a:spLocks noGrp="1"/>
          </p:cNvSpPr>
          <p:nvPr>
            <p:ph idx="1"/>
          </p:nvPr>
        </p:nvSpPr>
        <p:spPr>
          <a:xfrm>
            <a:off x="1103312" y="2052918"/>
            <a:ext cx="8946541" cy="4195481"/>
          </a:xfrm>
        </p:spPr>
        <p:txBody>
          <a:bodyPr/>
          <a:lstStyle/>
          <a:p>
            <a:r>
              <a:rPr lang="en-US" dirty="0" smtClean="0"/>
              <a:t>1 App – Many service</a:t>
            </a:r>
          </a:p>
          <a:p>
            <a:pPr lvl="1"/>
            <a:r>
              <a:rPr lang="en-US" dirty="0" smtClean="0"/>
              <a:t>Ex: Media app: Media service, BT service, Keyboard service, …</a:t>
            </a:r>
          </a:p>
          <a:p>
            <a:pPr lvl="1"/>
            <a:r>
              <a:rPr lang="en-US" dirty="0" smtClean="0"/>
              <a:t>Create each class to received event from each service</a:t>
            </a:r>
          </a:p>
          <a:p>
            <a:r>
              <a:rPr lang="en-US" dirty="0" smtClean="0"/>
              <a:t>App has many helper classes</a:t>
            </a:r>
          </a:p>
          <a:p>
            <a:pPr lvl="1"/>
            <a:r>
              <a:rPr lang="en-US" dirty="0" smtClean="0"/>
              <a:t>Log</a:t>
            </a:r>
          </a:p>
          <a:p>
            <a:pPr lvl="1"/>
            <a:r>
              <a:rPr lang="en-US" dirty="0" err="1" smtClean="0"/>
              <a:t>Util</a:t>
            </a:r>
            <a:r>
              <a:rPr lang="en-US" dirty="0" smtClean="0"/>
              <a:t> process data that shared between layer (convert C++ object – QML object)</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9</a:t>
            </a:fld>
            <a:endParaRPr lang="en-US"/>
          </a:p>
        </p:txBody>
      </p:sp>
    </p:spTree>
    <p:extLst>
      <p:ext uri="{BB962C8B-B14F-4D97-AF65-F5344CB8AC3E}">
        <p14:creationId xmlns:p14="http://schemas.microsoft.com/office/powerpoint/2010/main" val="3805546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Brief</a:t>
            </a:r>
            <a:endParaRPr lang="en-US" dirty="0"/>
          </a:p>
        </p:txBody>
      </p:sp>
      <p:sp>
        <p:nvSpPr>
          <p:cNvPr id="3" name="Content Placeholder 2"/>
          <p:cNvSpPr>
            <a:spLocks noGrp="1"/>
          </p:cNvSpPr>
          <p:nvPr>
            <p:ph idx="1"/>
          </p:nvPr>
        </p:nvSpPr>
        <p:spPr/>
        <p:txBody>
          <a:bodyPr/>
          <a:lstStyle/>
          <a:p>
            <a:r>
              <a:rPr lang="en-US" dirty="0" smtClean="0"/>
              <a:t>SRP is the simplest principle, but the hardest to apply</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10</a:t>
            </a:fld>
            <a:endParaRPr lang="en-US"/>
          </a:p>
        </p:txBody>
      </p:sp>
    </p:spTree>
    <p:extLst>
      <p:ext uri="{BB962C8B-B14F-4D97-AF65-F5344CB8AC3E}">
        <p14:creationId xmlns:p14="http://schemas.microsoft.com/office/powerpoint/2010/main" val="3806371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i="1" dirty="0"/>
              <a:t>Open-closed Principle</a:t>
            </a:r>
          </a:p>
        </p:txBody>
      </p:sp>
      <p:sp>
        <p:nvSpPr>
          <p:cNvPr id="4" name="Slide Number Placeholder 3"/>
          <p:cNvSpPr>
            <a:spLocks noGrp="1"/>
          </p:cNvSpPr>
          <p:nvPr>
            <p:ph type="sldNum" sz="quarter" idx="12"/>
          </p:nvPr>
        </p:nvSpPr>
        <p:spPr/>
        <p:txBody>
          <a:bodyPr/>
          <a:lstStyle/>
          <a:p>
            <a:fld id="{0E37A6DC-F90C-4641-9A63-957CC63867F2}" type="slidenum">
              <a:rPr lang="en-US" smtClean="0"/>
              <a:t>11</a:t>
            </a:fld>
            <a:endParaRPr lang="en-US"/>
          </a:p>
        </p:txBody>
      </p:sp>
      <p:sp>
        <p:nvSpPr>
          <p:cNvPr id="3" name="Content Placeholder 2"/>
          <p:cNvSpPr>
            <a:spLocks noGrp="1"/>
          </p:cNvSpPr>
          <p:nvPr>
            <p:ph idx="1"/>
          </p:nvPr>
        </p:nvSpPr>
        <p:spPr/>
        <p:txBody>
          <a:bodyPr/>
          <a:lstStyle/>
          <a:p>
            <a:r>
              <a:rPr lang="en-US" dirty="0"/>
              <a:t>Objects or entities should be open for extension, but closed for modification.</a:t>
            </a:r>
          </a:p>
        </p:txBody>
      </p:sp>
      <p:pic>
        <p:nvPicPr>
          <p:cNvPr id="3074" name="Picture 2" descr="SOLID-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1582" y="2876999"/>
            <a:ext cx="3810000" cy="304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07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Bad way</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12</a:t>
            </a:fld>
            <a:endParaRPr lang="en-US"/>
          </a:p>
        </p:txBody>
      </p:sp>
      <p:sp>
        <p:nvSpPr>
          <p:cNvPr id="7" name="Content Placeholder 6"/>
          <p:cNvSpPr>
            <a:spLocks noGrp="1"/>
          </p:cNvSpPr>
          <p:nvPr>
            <p:ph idx="1"/>
          </p:nvPr>
        </p:nvSpPr>
        <p:spPr/>
        <p:txBody>
          <a:bodyPr/>
          <a:lstStyle/>
          <a:p>
            <a:endParaRPr lang="en-US"/>
          </a:p>
        </p:txBody>
      </p:sp>
      <p:pic>
        <p:nvPicPr>
          <p:cNvPr id="8" name="Picture 7"/>
          <p:cNvPicPr>
            <a:picLocks noChangeAspect="1"/>
          </p:cNvPicPr>
          <p:nvPr/>
        </p:nvPicPr>
        <p:blipFill>
          <a:blip r:embed="rId3"/>
          <a:stretch>
            <a:fillRect/>
          </a:stretch>
        </p:blipFill>
        <p:spPr>
          <a:xfrm>
            <a:off x="978592" y="1384964"/>
            <a:ext cx="4525006" cy="4191585"/>
          </a:xfrm>
          <a:prstGeom prst="rect">
            <a:avLst/>
          </a:prstGeom>
        </p:spPr>
      </p:pic>
      <p:pic>
        <p:nvPicPr>
          <p:cNvPr id="9" name="Picture 8"/>
          <p:cNvPicPr>
            <a:picLocks noChangeAspect="1"/>
          </p:cNvPicPr>
          <p:nvPr/>
        </p:nvPicPr>
        <p:blipFill>
          <a:blip r:embed="rId4"/>
          <a:stretch>
            <a:fillRect/>
          </a:stretch>
        </p:blipFill>
        <p:spPr>
          <a:xfrm>
            <a:off x="5836079" y="418042"/>
            <a:ext cx="4515480" cy="6125430"/>
          </a:xfrm>
          <a:prstGeom prst="rect">
            <a:avLst/>
          </a:prstGeom>
        </p:spPr>
      </p:pic>
    </p:spTree>
    <p:extLst>
      <p:ext uri="{BB962C8B-B14F-4D97-AF65-F5344CB8AC3E}">
        <p14:creationId xmlns:p14="http://schemas.microsoft.com/office/powerpoint/2010/main" val="280587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Good way</a:t>
            </a:r>
            <a:endParaRPr lang="en-US" dirty="0"/>
          </a:p>
        </p:txBody>
      </p:sp>
      <p:pic>
        <p:nvPicPr>
          <p:cNvPr id="8" name="Content Placeholder 7"/>
          <p:cNvPicPr>
            <a:picLocks noGrp="1" noChangeAspect="1"/>
          </p:cNvPicPr>
          <p:nvPr>
            <p:ph idx="1"/>
          </p:nvPr>
        </p:nvPicPr>
        <p:blipFill>
          <a:blip r:embed="rId3"/>
          <a:stretch>
            <a:fillRect/>
          </a:stretch>
        </p:blipFill>
        <p:spPr>
          <a:xfrm>
            <a:off x="752024" y="1207948"/>
            <a:ext cx="3388656" cy="5446312"/>
          </a:xfrm>
          <a:prstGeom prst="rect">
            <a:avLst/>
          </a:prstGeom>
        </p:spPr>
      </p:pic>
      <p:sp>
        <p:nvSpPr>
          <p:cNvPr id="4" name="Slide Number Placeholder 3"/>
          <p:cNvSpPr>
            <a:spLocks noGrp="1"/>
          </p:cNvSpPr>
          <p:nvPr>
            <p:ph type="sldNum" sz="quarter" idx="12"/>
          </p:nvPr>
        </p:nvSpPr>
        <p:spPr/>
        <p:txBody>
          <a:bodyPr/>
          <a:lstStyle/>
          <a:p>
            <a:fld id="{0E37A6DC-F90C-4641-9A63-957CC63867F2}" type="slidenum">
              <a:rPr lang="en-US" smtClean="0"/>
              <a:t>13</a:t>
            </a:fld>
            <a:endParaRPr lang="en-US"/>
          </a:p>
        </p:txBody>
      </p:sp>
      <p:pic>
        <p:nvPicPr>
          <p:cNvPr id="9" name="Picture 8"/>
          <p:cNvPicPr>
            <a:picLocks noChangeAspect="1"/>
          </p:cNvPicPr>
          <p:nvPr/>
        </p:nvPicPr>
        <p:blipFill>
          <a:blip r:embed="rId4"/>
          <a:stretch>
            <a:fillRect/>
          </a:stretch>
        </p:blipFill>
        <p:spPr>
          <a:xfrm>
            <a:off x="5348472" y="1701943"/>
            <a:ext cx="4467849" cy="2229161"/>
          </a:xfrm>
          <a:prstGeom prst="rect">
            <a:avLst/>
          </a:prstGeom>
        </p:spPr>
      </p:pic>
    </p:spTree>
    <p:extLst>
      <p:ext uri="{BB962C8B-B14F-4D97-AF65-F5344CB8AC3E}">
        <p14:creationId xmlns:p14="http://schemas.microsoft.com/office/powerpoint/2010/main" val="1943299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P-IVI application</a:t>
            </a:r>
            <a:endParaRPr lang="en-US" sz="3200" dirty="0"/>
          </a:p>
        </p:txBody>
      </p:sp>
      <p:sp>
        <p:nvSpPr>
          <p:cNvPr id="3" name="Content Placeholder 2"/>
          <p:cNvSpPr>
            <a:spLocks noGrp="1"/>
          </p:cNvSpPr>
          <p:nvPr>
            <p:ph idx="1"/>
          </p:nvPr>
        </p:nvSpPr>
        <p:spPr/>
        <p:txBody>
          <a:bodyPr/>
          <a:lstStyle/>
          <a:p>
            <a:r>
              <a:rPr lang="en-US" dirty="0" smtClean="0"/>
              <a:t>Media App have many interfaces like Media, Application Manager, … and need to register with services.</a:t>
            </a:r>
          </a:p>
          <a:p>
            <a:r>
              <a:rPr lang="en-US" dirty="0" smtClean="0"/>
              <a:t>Create 1 abstract interface class and others inherit it</a:t>
            </a:r>
          </a:p>
          <a:p>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14</a:t>
            </a:fld>
            <a:endParaRPr lang="en-US"/>
          </a:p>
        </p:txBody>
      </p:sp>
      <p:pic>
        <p:nvPicPr>
          <p:cNvPr id="12" name="Picture 11"/>
          <p:cNvPicPr>
            <a:picLocks noChangeAspect="1"/>
          </p:cNvPicPr>
          <p:nvPr/>
        </p:nvPicPr>
        <p:blipFill>
          <a:blip r:embed="rId2"/>
          <a:stretch>
            <a:fillRect/>
          </a:stretch>
        </p:blipFill>
        <p:spPr>
          <a:xfrm>
            <a:off x="2682815" y="3303912"/>
            <a:ext cx="5021917" cy="3144157"/>
          </a:xfrm>
          <a:prstGeom prst="rect">
            <a:avLst/>
          </a:prstGeom>
        </p:spPr>
      </p:pic>
    </p:spTree>
    <p:extLst>
      <p:ext uri="{BB962C8B-B14F-4D97-AF65-F5344CB8AC3E}">
        <p14:creationId xmlns:p14="http://schemas.microsoft.com/office/powerpoint/2010/main" val="194898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Brief</a:t>
            </a:r>
            <a:endParaRPr lang="en-US" dirty="0"/>
          </a:p>
        </p:txBody>
      </p:sp>
      <p:sp>
        <p:nvSpPr>
          <p:cNvPr id="3" name="Content Placeholder 2"/>
          <p:cNvSpPr>
            <a:spLocks noGrp="1"/>
          </p:cNvSpPr>
          <p:nvPr>
            <p:ph idx="1"/>
          </p:nvPr>
        </p:nvSpPr>
        <p:spPr/>
        <p:txBody>
          <a:bodyPr/>
          <a:lstStyle/>
          <a:p>
            <a:r>
              <a:rPr lang="en-US" dirty="0" smtClean="0"/>
              <a:t>Apply for framework/library/plugin</a:t>
            </a:r>
          </a:p>
          <a:p>
            <a:r>
              <a:rPr lang="en-US" dirty="0" smtClean="0"/>
              <a:t>Refactor</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15</a:t>
            </a:fld>
            <a:endParaRPr lang="en-US"/>
          </a:p>
        </p:txBody>
      </p:sp>
    </p:spTree>
    <p:extLst>
      <p:ext uri="{BB962C8B-B14F-4D97-AF65-F5344CB8AC3E}">
        <p14:creationId xmlns:p14="http://schemas.microsoft.com/office/powerpoint/2010/main" val="2315360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i="1" dirty="0" err="1"/>
              <a:t>Liskov</a:t>
            </a:r>
            <a:r>
              <a:rPr lang="en-US" i="1" dirty="0"/>
              <a:t> substitution principle</a:t>
            </a:r>
          </a:p>
        </p:txBody>
      </p:sp>
      <p:sp>
        <p:nvSpPr>
          <p:cNvPr id="3" name="Content Placeholder 2"/>
          <p:cNvSpPr>
            <a:spLocks noGrp="1"/>
          </p:cNvSpPr>
          <p:nvPr>
            <p:ph idx="1"/>
          </p:nvPr>
        </p:nvSpPr>
        <p:spPr/>
        <p:txBody>
          <a:bodyPr/>
          <a:lstStyle/>
          <a:p>
            <a:r>
              <a:rPr lang="en-US" dirty="0"/>
              <a:t>Let q(x) be a property provable about objects of x of type T. Then q(y) should be provable for objects y of type S where S is a subtype of T</a:t>
            </a:r>
            <a:r>
              <a:rPr lang="en-US" dirty="0" smtClean="0"/>
              <a:t>.</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16</a:t>
            </a:fld>
            <a:endParaRPr lang="en-US"/>
          </a:p>
        </p:txBody>
      </p:sp>
      <p:pic>
        <p:nvPicPr>
          <p:cNvPr id="4098" name="Picture 2" descr="https://toidicodedao.files.wordpress.com/2015/02/liskov_substitution_principle_thum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9582" y="3209026"/>
            <a:ext cx="3224841" cy="2418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463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way</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0E37A6DC-F90C-4641-9A63-957CC63867F2}" type="slidenum">
              <a:rPr lang="en-US" smtClean="0"/>
              <a:t>17</a:t>
            </a:fld>
            <a:endParaRPr lang="en-US"/>
          </a:p>
        </p:txBody>
      </p:sp>
      <p:pic>
        <p:nvPicPr>
          <p:cNvPr id="7" name="Picture 6"/>
          <p:cNvPicPr>
            <a:picLocks noChangeAspect="1"/>
          </p:cNvPicPr>
          <p:nvPr/>
        </p:nvPicPr>
        <p:blipFill>
          <a:blip r:embed="rId3"/>
          <a:stretch>
            <a:fillRect/>
          </a:stretch>
        </p:blipFill>
        <p:spPr>
          <a:xfrm>
            <a:off x="1556850" y="2133419"/>
            <a:ext cx="5696745" cy="2591162"/>
          </a:xfrm>
          <a:prstGeom prst="rect">
            <a:avLst/>
          </a:prstGeom>
        </p:spPr>
      </p:pic>
    </p:spTree>
    <p:extLst>
      <p:ext uri="{BB962C8B-B14F-4D97-AF65-F5344CB8AC3E}">
        <p14:creationId xmlns:p14="http://schemas.microsoft.com/office/powerpoint/2010/main" val="922684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way</a:t>
            </a:r>
          </a:p>
        </p:txBody>
      </p:sp>
      <p:sp>
        <p:nvSpPr>
          <p:cNvPr id="4" name="Slide Number Placeholder 3"/>
          <p:cNvSpPr>
            <a:spLocks noGrp="1"/>
          </p:cNvSpPr>
          <p:nvPr>
            <p:ph type="sldNum" sz="quarter" idx="12"/>
          </p:nvPr>
        </p:nvSpPr>
        <p:spPr/>
        <p:txBody>
          <a:bodyPr/>
          <a:lstStyle/>
          <a:p>
            <a:fld id="{0E37A6DC-F90C-4641-9A63-957CC63867F2}" type="slidenum">
              <a:rPr lang="en-US" smtClean="0"/>
              <a:t>18</a:t>
            </a:fld>
            <a:endParaRPr lang="en-US"/>
          </a:p>
        </p:txBody>
      </p:sp>
      <p:sp>
        <p:nvSpPr>
          <p:cNvPr id="7" name="Content Placeholder 6"/>
          <p:cNvSpPr>
            <a:spLocks noGrp="1"/>
          </p:cNvSpPr>
          <p:nvPr>
            <p:ph idx="1"/>
          </p:nvPr>
        </p:nvSpPr>
        <p:spPr/>
        <p:txBody>
          <a:bodyPr/>
          <a:lstStyle/>
          <a:p>
            <a:endParaRPr lang="en-US"/>
          </a:p>
        </p:txBody>
      </p:sp>
      <p:pic>
        <p:nvPicPr>
          <p:cNvPr id="8" name="Picture 7"/>
          <p:cNvPicPr>
            <a:picLocks noChangeAspect="1"/>
          </p:cNvPicPr>
          <p:nvPr/>
        </p:nvPicPr>
        <p:blipFill>
          <a:blip r:embed="rId3"/>
          <a:stretch>
            <a:fillRect/>
          </a:stretch>
        </p:blipFill>
        <p:spPr>
          <a:xfrm>
            <a:off x="1455179" y="2523689"/>
            <a:ext cx="6296904" cy="1086002"/>
          </a:xfrm>
          <a:prstGeom prst="rect">
            <a:avLst/>
          </a:prstGeom>
        </p:spPr>
      </p:pic>
    </p:spTree>
    <p:extLst>
      <p:ext uri="{BB962C8B-B14F-4D97-AF65-F5344CB8AC3E}">
        <p14:creationId xmlns:p14="http://schemas.microsoft.com/office/powerpoint/2010/main" val="1517255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Bad way</a:t>
            </a:r>
            <a:endParaRPr lang="en-US" dirty="0"/>
          </a:p>
        </p:txBody>
      </p:sp>
      <p:pic>
        <p:nvPicPr>
          <p:cNvPr id="5" name="Content Placeholder 4"/>
          <p:cNvPicPr>
            <a:picLocks noGrp="1" noChangeAspect="1"/>
          </p:cNvPicPr>
          <p:nvPr>
            <p:ph idx="1"/>
          </p:nvPr>
        </p:nvPicPr>
        <p:blipFill>
          <a:blip r:embed="rId3"/>
          <a:stretch>
            <a:fillRect/>
          </a:stretch>
        </p:blipFill>
        <p:spPr>
          <a:xfrm>
            <a:off x="1336172" y="1466042"/>
            <a:ext cx="2615468" cy="4195762"/>
          </a:xfrm>
          <a:prstGeom prst="rect">
            <a:avLst/>
          </a:prstGeom>
        </p:spPr>
      </p:pic>
      <p:sp>
        <p:nvSpPr>
          <p:cNvPr id="4" name="Slide Number Placeholder 3"/>
          <p:cNvSpPr>
            <a:spLocks noGrp="1"/>
          </p:cNvSpPr>
          <p:nvPr>
            <p:ph type="sldNum" sz="quarter" idx="12"/>
          </p:nvPr>
        </p:nvSpPr>
        <p:spPr/>
        <p:txBody>
          <a:bodyPr/>
          <a:lstStyle/>
          <a:p>
            <a:fld id="{0E37A6DC-F90C-4641-9A63-957CC63867F2}" type="slidenum">
              <a:rPr lang="en-US" smtClean="0"/>
              <a:t>19</a:t>
            </a:fld>
            <a:endParaRPr lang="en-US"/>
          </a:p>
        </p:txBody>
      </p:sp>
      <p:pic>
        <p:nvPicPr>
          <p:cNvPr id="6" name="Picture 5"/>
          <p:cNvPicPr>
            <a:picLocks noChangeAspect="1"/>
          </p:cNvPicPr>
          <p:nvPr/>
        </p:nvPicPr>
        <p:blipFill>
          <a:blip r:embed="rId4"/>
          <a:stretch>
            <a:fillRect/>
          </a:stretch>
        </p:blipFill>
        <p:spPr>
          <a:xfrm>
            <a:off x="4874729" y="2256206"/>
            <a:ext cx="6496957" cy="2000529"/>
          </a:xfrm>
          <a:prstGeom prst="rect">
            <a:avLst/>
          </a:prstGeom>
        </p:spPr>
      </p:pic>
    </p:spTree>
    <p:extLst>
      <p:ext uri="{BB962C8B-B14F-4D97-AF65-F5344CB8AC3E}">
        <p14:creationId xmlns:p14="http://schemas.microsoft.com/office/powerpoint/2010/main" val="4261356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Good way</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0E37A6DC-F90C-4641-9A63-957CC63867F2}" type="slidenum">
              <a:rPr lang="en-US" smtClean="0"/>
              <a:t>20</a:t>
            </a:fld>
            <a:endParaRPr lang="en-US"/>
          </a:p>
        </p:txBody>
      </p:sp>
      <p:pic>
        <p:nvPicPr>
          <p:cNvPr id="5" name="Picture 4"/>
          <p:cNvPicPr>
            <a:picLocks noChangeAspect="1"/>
          </p:cNvPicPr>
          <p:nvPr/>
        </p:nvPicPr>
        <p:blipFill>
          <a:blip r:embed="rId3"/>
          <a:stretch>
            <a:fillRect/>
          </a:stretch>
        </p:blipFill>
        <p:spPr>
          <a:xfrm>
            <a:off x="2748213" y="3156008"/>
            <a:ext cx="4124901" cy="1305107"/>
          </a:xfrm>
          <a:prstGeom prst="rect">
            <a:avLst/>
          </a:prstGeom>
        </p:spPr>
      </p:pic>
    </p:spTree>
    <p:extLst>
      <p:ext uri="{BB962C8B-B14F-4D97-AF65-F5344CB8AC3E}">
        <p14:creationId xmlns:p14="http://schemas.microsoft.com/office/powerpoint/2010/main" val="3290203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P-IVI application</a:t>
            </a:r>
            <a:endParaRPr lang="en-US" dirty="0"/>
          </a:p>
        </p:txBody>
      </p:sp>
      <p:sp>
        <p:nvSpPr>
          <p:cNvPr id="3" name="Content Placeholder 2"/>
          <p:cNvSpPr>
            <a:spLocks noGrp="1"/>
          </p:cNvSpPr>
          <p:nvPr>
            <p:ph idx="1"/>
          </p:nvPr>
        </p:nvSpPr>
        <p:spPr/>
        <p:txBody>
          <a:bodyPr/>
          <a:lstStyle/>
          <a:p>
            <a:r>
              <a:rPr lang="en-US" dirty="0" smtClean="0"/>
              <a:t>Online Media has many functions look like Media but we don’t </a:t>
            </a:r>
            <a:r>
              <a:rPr lang="en-US" dirty="0" err="1" smtClean="0"/>
              <a:t>inherite</a:t>
            </a:r>
            <a:r>
              <a:rPr lang="en-US" dirty="0" smtClean="0"/>
              <a:t> Online Media from Media because Online Media has many exception.</a:t>
            </a:r>
          </a:p>
        </p:txBody>
      </p:sp>
      <p:sp>
        <p:nvSpPr>
          <p:cNvPr id="4" name="Slide Number Placeholder 3"/>
          <p:cNvSpPr>
            <a:spLocks noGrp="1"/>
          </p:cNvSpPr>
          <p:nvPr>
            <p:ph type="sldNum" sz="quarter" idx="12"/>
          </p:nvPr>
        </p:nvSpPr>
        <p:spPr/>
        <p:txBody>
          <a:bodyPr/>
          <a:lstStyle/>
          <a:p>
            <a:fld id="{0E37A6DC-F90C-4641-9A63-957CC63867F2}" type="slidenum">
              <a:rPr lang="en-US" smtClean="0"/>
              <a:t>21</a:t>
            </a:fld>
            <a:endParaRPr lang="en-US"/>
          </a:p>
        </p:txBody>
      </p:sp>
    </p:spTree>
    <p:extLst>
      <p:ext uri="{BB962C8B-B14F-4D97-AF65-F5344CB8AC3E}">
        <p14:creationId xmlns:p14="http://schemas.microsoft.com/office/powerpoint/2010/main" val="1648427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Brief</a:t>
            </a:r>
            <a:endParaRPr lang="en-US" dirty="0"/>
          </a:p>
        </p:txBody>
      </p:sp>
      <p:sp>
        <p:nvSpPr>
          <p:cNvPr id="3" name="Content Placeholder 2"/>
          <p:cNvSpPr>
            <a:spLocks noGrp="1"/>
          </p:cNvSpPr>
          <p:nvPr>
            <p:ph idx="1"/>
          </p:nvPr>
        </p:nvSpPr>
        <p:spPr/>
        <p:txBody>
          <a:bodyPr/>
          <a:lstStyle/>
          <a:p>
            <a:r>
              <a:rPr lang="en-US" dirty="0" smtClean="0"/>
              <a:t>B as-is A doesn’t mean B inherit A. B inherit A when B can substitutable for A</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22</a:t>
            </a:fld>
            <a:endParaRPr lang="en-US"/>
          </a:p>
        </p:txBody>
      </p:sp>
    </p:spTree>
    <p:extLst>
      <p:ext uri="{BB962C8B-B14F-4D97-AF65-F5344CB8AC3E}">
        <p14:creationId xmlns:p14="http://schemas.microsoft.com/office/powerpoint/2010/main" val="553900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4. Interface segregation principle</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23</a:t>
            </a:fld>
            <a:endParaRPr lang="en-US"/>
          </a:p>
        </p:txBody>
      </p:sp>
      <p:sp>
        <p:nvSpPr>
          <p:cNvPr id="3" name="Content Placeholder 2"/>
          <p:cNvSpPr>
            <a:spLocks noGrp="1"/>
          </p:cNvSpPr>
          <p:nvPr>
            <p:ph idx="1"/>
          </p:nvPr>
        </p:nvSpPr>
        <p:spPr/>
        <p:txBody>
          <a:bodyPr/>
          <a:lstStyle/>
          <a:p>
            <a:r>
              <a:rPr lang="en-US" dirty="0"/>
              <a:t>A client should never be forced to implement an interface that it doesn't use or clients shouldn't be forced to depend on methods they do not </a:t>
            </a:r>
            <a:r>
              <a:rPr lang="en-US" dirty="0" smtClean="0"/>
              <a:t>use.</a:t>
            </a:r>
            <a:endParaRPr lang="en-US" dirty="0"/>
          </a:p>
        </p:txBody>
      </p:sp>
      <p:pic>
        <p:nvPicPr>
          <p:cNvPr id="5122" name="Picture 2" descr="interface_segregation_principle_thum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7394" y="3143433"/>
            <a:ext cx="4514850" cy="33909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InterfaceSegreg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9122" y="3143433"/>
            <a:ext cx="3324225" cy="294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51287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Bad way</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24</a:t>
            </a:fld>
            <a:endParaRPr lang="en-US"/>
          </a:p>
        </p:txBody>
      </p:sp>
      <p:pic>
        <p:nvPicPr>
          <p:cNvPr id="8" name="Picture 7"/>
          <p:cNvPicPr>
            <a:picLocks noChangeAspect="1"/>
          </p:cNvPicPr>
          <p:nvPr/>
        </p:nvPicPr>
        <p:blipFill>
          <a:blip r:embed="rId3"/>
          <a:stretch>
            <a:fillRect/>
          </a:stretch>
        </p:blipFill>
        <p:spPr>
          <a:xfrm>
            <a:off x="1272351" y="2114676"/>
            <a:ext cx="4505954" cy="3353268"/>
          </a:xfrm>
          <a:prstGeom prst="rect">
            <a:avLst/>
          </a:prstGeom>
        </p:spPr>
      </p:pic>
      <p:pic>
        <p:nvPicPr>
          <p:cNvPr id="9" name="Picture 8"/>
          <p:cNvPicPr>
            <a:picLocks noChangeAspect="1"/>
          </p:cNvPicPr>
          <p:nvPr/>
        </p:nvPicPr>
        <p:blipFill>
          <a:blip r:embed="rId4"/>
          <a:stretch>
            <a:fillRect/>
          </a:stretch>
        </p:blipFill>
        <p:spPr>
          <a:xfrm>
            <a:off x="6256159" y="2052918"/>
            <a:ext cx="4515480" cy="3982006"/>
          </a:xfrm>
          <a:prstGeom prst="rect">
            <a:avLst/>
          </a:prstGeom>
        </p:spPr>
      </p:pic>
    </p:spTree>
    <p:extLst>
      <p:ext uri="{BB962C8B-B14F-4D97-AF65-F5344CB8AC3E}">
        <p14:creationId xmlns:p14="http://schemas.microsoft.com/office/powerpoint/2010/main" val="5560007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way</a:t>
            </a:r>
          </a:p>
        </p:txBody>
      </p:sp>
      <p:sp>
        <p:nvSpPr>
          <p:cNvPr id="4" name="Slide Number Placeholder 3"/>
          <p:cNvSpPr>
            <a:spLocks noGrp="1"/>
          </p:cNvSpPr>
          <p:nvPr>
            <p:ph type="sldNum" sz="quarter" idx="12"/>
          </p:nvPr>
        </p:nvSpPr>
        <p:spPr/>
        <p:txBody>
          <a:bodyPr/>
          <a:lstStyle/>
          <a:p>
            <a:fld id="{0E37A6DC-F90C-4641-9A63-957CC63867F2}" type="slidenum">
              <a:rPr lang="en-US" smtClean="0"/>
              <a:t>25</a:t>
            </a:fld>
            <a:endParaRPr lang="en-US"/>
          </a:p>
        </p:txBody>
      </p:sp>
      <p:sp>
        <p:nvSpPr>
          <p:cNvPr id="3" name="Content Placeholder 2"/>
          <p:cNvSpPr>
            <a:spLocks noGrp="1"/>
          </p:cNvSpPr>
          <p:nvPr>
            <p:ph idx="1"/>
          </p:nvPr>
        </p:nvSpPr>
        <p:spPr/>
        <p:txBody>
          <a:bodyPr/>
          <a:lstStyle/>
          <a:p>
            <a:endParaRPr lang="en-US"/>
          </a:p>
        </p:txBody>
      </p:sp>
      <p:pic>
        <p:nvPicPr>
          <p:cNvPr id="7" name="Picture 6"/>
          <p:cNvPicPr>
            <a:picLocks noChangeAspect="1"/>
          </p:cNvPicPr>
          <p:nvPr/>
        </p:nvPicPr>
        <p:blipFill>
          <a:blip r:embed="rId3"/>
          <a:stretch>
            <a:fillRect/>
          </a:stretch>
        </p:blipFill>
        <p:spPr>
          <a:xfrm>
            <a:off x="3852549" y="113837"/>
            <a:ext cx="4486901" cy="6630325"/>
          </a:xfrm>
          <a:prstGeom prst="rect">
            <a:avLst/>
          </a:prstGeom>
        </p:spPr>
      </p:pic>
    </p:spTree>
    <p:extLst>
      <p:ext uri="{BB962C8B-B14F-4D97-AF65-F5344CB8AC3E}">
        <p14:creationId xmlns:p14="http://schemas.microsoft.com/office/powerpoint/2010/main" val="4341904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P-IVI application</a:t>
            </a:r>
            <a:endParaRPr lang="en-US" dirty="0"/>
          </a:p>
        </p:txBody>
      </p:sp>
      <p:sp>
        <p:nvSpPr>
          <p:cNvPr id="3" name="Content Placeholder 2"/>
          <p:cNvSpPr>
            <a:spLocks noGrp="1"/>
          </p:cNvSpPr>
          <p:nvPr>
            <p:ph idx="1"/>
          </p:nvPr>
        </p:nvSpPr>
        <p:spPr/>
        <p:txBody>
          <a:bodyPr/>
          <a:lstStyle/>
          <a:p>
            <a:r>
              <a:rPr lang="en-US" dirty="0" smtClean="0"/>
              <a:t>Your project?</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26</a:t>
            </a:fld>
            <a:endParaRPr lang="en-US"/>
          </a:p>
        </p:txBody>
      </p:sp>
    </p:spTree>
    <p:extLst>
      <p:ext uri="{BB962C8B-B14F-4D97-AF65-F5344CB8AC3E}">
        <p14:creationId xmlns:p14="http://schemas.microsoft.com/office/powerpoint/2010/main" val="35685292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Brief</a:t>
            </a:r>
            <a:endParaRPr lang="en-US" dirty="0"/>
          </a:p>
        </p:txBody>
      </p:sp>
      <p:sp>
        <p:nvSpPr>
          <p:cNvPr id="3" name="Content Placeholder 2"/>
          <p:cNvSpPr>
            <a:spLocks noGrp="1"/>
          </p:cNvSpPr>
          <p:nvPr>
            <p:ph idx="1"/>
          </p:nvPr>
        </p:nvSpPr>
        <p:spPr/>
        <p:txBody>
          <a:bodyPr/>
          <a:lstStyle/>
          <a:p>
            <a:r>
              <a:rPr lang="en-US" dirty="0" smtClean="0"/>
              <a:t>Make system flexible</a:t>
            </a:r>
          </a:p>
          <a:p>
            <a:r>
              <a:rPr lang="en-US" dirty="0" smtClean="0"/>
              <a:t>Reduce unnecessary code</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27</a:t>
            </a:fld>
            <a:endParaRPr lang="en-US"/>
          </a:p>
        </p:txBody>
      </p:sp>
    </p:spTree>
    <p:extLst>
      <p:ext uri="{BB962C8B-B14F-4D97-AF65-F5344CB8AC3E}">
        <p14:creationId xmlns:p14="http://schemas.microsoft.com/office/powerpoint/2010/main" val="3660213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5. Dependency Inversion</a:t>
            </a:r>
            <a:endParaRPr lang="en-US" dirty="0"/>
          </a:p>
        </p:txBody>
      </p:sp>
      <p:sp>
        <p:nvSpPr>
          <p:cNvPr id="3" name="Content Placeholder 2"/>
          <p:cNvSpPr>
            <a:spLocks noGrp="1"/>
          </p:cNvSpPr>
          <p:nvPr>
            <p:ph idx="1"/>
          </p:nvPr>
        </p:nvSpPr>
        <p:spPr/>
        <p:txBody>
          <a:bodyPr/>
          <a:lstStyle/>
          <a:p>
            <a:r>
              <a:rPr lang="en-US" dirty="0"/>
              <a:t>Entities must depend on abstractions not on concretions. It states that the high level module must not depend on the low level module, but they should depend on abstractions.</a:t>
            </a:r>
          </a:p>
        </p:txBody>
      </p:sp>
      <p:sp>
        <p:nvSpPr>
          <p:cNvPr id="4" name="Slide Number Placeholder 3"/>
          <p:cNvSpPr>
            <a:spLocks noGrp="1"/>
          </p:cNvSpPr>
          <p:nvPr>
            <p:ph type="sldNum" sz="quarter" idx="12"/>
          </p:nvPr>
        </p:nvSpPr>
        <p:spPr/>
        <p:txBody>
          <a:bodyPr/>
          <a:lstStyle/>
          <a:p>
            <a:fld id="{0E37A6DC-F90C-4641-9A63-957CC63867F2}" type="slidenum">
              <a:rPr lang="en-US" smtClean="0"/>
              <a:t>28</a:t>
            </a:fld>
            <a:endParaRPr lang="en-US"/>
          </a:p>
        </p:txBody>
      </p:sp>
      <p:pic>
        <p:nvPicPr>
          <p:cNvPr id="6146" name="Picture 2" descr="dependency_inversion_principle_thum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9587" y="3147983"/>
            <a:ext cx="4514850" cy="339090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ioc-and-mapper-in-c-4-6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0058" y="3147983"/>
            <a:ext cx="4514850"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5851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way</a:t>
            </a:r>
          </a:p>
        </p:txBody>
      </p:sp>
      <p:sp>
        <p:nvSpPr>
          <p:cNvPr id="4" name="Slide Number Placeholder 3"/>
          <p:cNvSpPr>
            <a:spLocks noGrp="1"/>
          </p:cNvSpPr>
          <p:nvPr>
            <p:ph type="sldNum" sz="quarter" idx="12"/>
          </p:nvPr>
        </p:nvSpPr>
        <p:spPr/>
        <p:txBody>
          <a:bodyPr/>
          <a:lstStyle/>
          <a:p>
            <a:fld id="{0E37A6DC-F90C-4641-9A63-957CC63867F2}" type="slidenum">
              <a:rPr lang="en-US" smtClean="0"/>
              <a:t>29</a:t>
            </a:fld>
            <a:endParaRPr lang="en-US"/>
          </a:p>
        </p:txBody>
      </p:sp>
      <p:sp>
        <p:nvSpPr>
          <p:cNvPr id="6" name="Content Placeholder 5"/>
          <p:cNvSpPr>
            <a:spLocks noGrp="1"/>
          </p:cNvSpPr>
          <p:nvPr>
            <p:ph idx="1"/>
          </p:nvPr>
        </p:nvSpPr>
        <p:spPr/>
        <p:txBody>
          <a:bodyPr/>
          <a:lstStyle/>
          <a:p>
            <a:endParaRPr lang="en-US"/>
          </a:p>
        </p:txBody>
      </p:sp>
      <p:pic>
        <p:nvPicPr>
          <p:cNvPr id="7" name="Picture 6"/>
          <p:cNvPicPr>
            <a:picLocks noChangeAspect="1"/>
          </p:cNvPicPr>
          <p:nvPr/>
        </p:nvPicPr>
        <p:blipFill>
          <a:blip r:embed="rId3"/>
          <a:stretch>
            <a:fillRect/>
          </a:stretch>
        </p:blipFill>
        <p:spPr>
          <a:xfrm>
            <a:off x="3843023" y="1671392"/>
            <a:ext cx="4505954" cy="3515216"/>
          </a:xfrm>
          <a:prstGeom prst="rect">
            <a:avLst/>
          </a:prstGeom>
        </p:spPr>
      </p:pic>
    </p:spTree>
    <p:extLst>
      <p:ext uri="{BB962C8B-B14F-4D97-AF65-F5344CB8AC3E}">
        <p14:creationId xmlns:p14="http://schemas.microsoft.com/office/powerpoint/2010/main" val="4162895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way</a:t>
            </a:r>
          </a:p>
        </p:txBody>
      </p:sp>
      <p:sp>
        <p:nvSpPr>
          <p:cNvPr id="4" name="Slide Number Placeholder 3"/>
          <p:cNvSpPr>
            <a:spLocks noGrp="1"/>
          </p:cNvSpPr>
          <p:nvPr>
            <p:ph type="sldNum" sz="quarter" idx="12"/>
          </p:nvPr>
        </p:nvSpPr>
        <p:spPr/>
        <p:txBody>
          <a:bodyPr/>
          <a:lstStyle/>
          <a:p>
            <a:fld id="{0E37A6DC-F90C-4641-9A63-957CC63867F2}" type="slidenum">
              <a:rPr lang="en-US" smtClean="0"/>
              <a:t>30</a:t>
            </a:fld>
            <a:endParaRPr lang="en-US"/>
          </a:p>
        </p:txBody>
      </p:sp>
      <p:sp>
        <p:nvSpPr>
          <p:cNvPr id="3" name="Content Placeholder 2"/>
          <p:cNvSpPr>
            <a:spLocks noGrp="1"/>
          </p:cNvSpPr>
          <p:nvPr>
            <p:ph idx="1"/>
          </p:nvPr>
        </p:nvSpPr>
        <p:spPr/>
        <p:txBody>
          <a:bodyPr/>
          <a:lstStyle/>
          <a:p>
            <a:endParaRPr lang="en-US"/>
          </a:p>
        </p:txBody>
      </p:sp>
      <p:pic>
        <p:nvPicPr>
          <p:cNvPr id="7" name="Picture 6"/>
          <p:cNvPicPr>
            <a:picLocks noChangeAspect="1"/>
          </p:cNvPicPr>
          <p:nvPr/>
        </p:nvPicPr>
        <p:blipFill>
          <a:blip r:embed="rId3"/>
          <a:stretch>
            <a:fillRect/>
          </a:stretch>
        </p:blipFill>
        <p:spPr>
          <a:xfrm>
            <a:off x="3903081" y="70969"/>
            <a:ext cx="5334744" cy="6716062"/>
          </a:xfrm>
          <a:prstGeom prst="rect">
            <a:avLst/>
          </a:prstGeom>
        </p:spPr>
      </p:pic>
    </p:spTree>
    <p:extLst>
      <p:ext uri="{BB962C8B-B14F-4D97-AF65-F5344CB8AC3E}">
        <p14:creationId xmlns:p14="http://schemas.microsoft.com/office/powerpoint/2010/main" val="2057175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P-IVI application</a:t>
            </a:r>
            <a:endParaRPr lang="en-US" dirty="0"/>
          </a:p>
        </p:txBody>
      </p:sp>
      <p:sp>
        <p:nvSpPr>
          <p:cNvPr id="3" name="Content Placeholder 2"/>
          <p:cNvSpPr>
            <a:spLocks noGrp="1"/>
          </p:cNvSpPr>
          <p:nvPr>
            <p:ph idx="1"/>
          </p:nvPr>
        </p:nvSpPr>
        <p:spPr/>
        <p:txBody>
          <a:bodyPr/>
          <a:lstStyle/>
          <a:p>
            <a:r>
              <a:rPr lang="en-US" dirty="0" smtClean="0"/>
              <a:t>Adapter has Base </a:t>
            </a:r>
            <a:r>
              <a:rPr lang="en-US" dirty="0" err="1" smtClean="0"/>
              <a:t>Apdater</a:t>
            </a:r>
            <a:r>
              <a:rPr lang="en-US" dirty="0" smtClean="0"/>
              <a:t> contains Base Model and when we need to update list we pass Model corresponding through &lt;</a:t>
            </a:r>
            <a:r>
              <a:rPr lang="en-US" dirty="0" err="1" smtClean="0"/>
              <a:t>dynamic_cast</a:t>
            </a:r>
            <a:r>
              <a:rPr lang="en-US" dirty="0" smtClean="0"/>
              <a:t>&gt;</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31</a:t>
            </a:fld>
            <a:endParaRPr lang="en-US"/>
          </a:p>
        </p:txBody>
      </p:sp>
    </p:spTree>
    <p:extLst>
      <p:ext uri="{BB962C8B-B14F-4D97-AF65-F5344CB8AC3E}">
        <p14:creationId xmlns:p14="http://schemas.microsoft.com/office/powerpoint/2010/main" val="494419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Brief</a:t>
            </a:r>
            <a:endParaRPr lang="en-US" dirty="0"/>
          </a:p>
        </p:txBody>
      </p:sp>
      <p:sp>
        <p:nvSpPr>
          <p:cNvPr id="3" name="Content Placeholder 2"/>
          <p:cNvSpPr>
            <a:spLocks noGrp="1"/>
          </p:cNvSpPr>
          <p:nvPr>
            <p:ph idx="1"/>
          </p:nvPr>
        </p:nvSpPr>
        <p:spPr/>
        <p:txBody>
          <a:bodyPr/>
          <a:lstStyle/>
          <a:p>
            <a:r>
              <a:rPr lang="en-US" dirty="0" smtClean="0"/>
              <a:t>Reduce dependencies between modules</a:t>
            </a:r>
          </a:p>
          <a:p>
            <a:r>
              <a:rPr lang="en-US" dirty="0" smtClean="0"/>
              <a:t>Hard to debug</a:t>
            </a:r>
          </a:p>
          <a:p>
            <a:r>
              <a:rPr lang="en-US" dirty="0" smtClean="0"/>
              <a:t>Increase code complexity</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32</a:t>
            </a:fld>
            <a:endParaRPr lang="en-US"/>
          </a:p>
        </p:txBody>
      </p:sp>
    </p:spTree>
    <p:extLst>
      <p:ext uri="{BB962C8B-B14F-4D97-AF65-F5344CB8AC3E}">
        <p14:creationId xmlns:p14="http://schemas.microsoft.com/office/powerpoint/2010/main" val="2872083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III. Conclusion</a:t>
            </a:r>
            <a:endParaRPr lang="en-US" dirty="0"/>
          </a:p>
        </p:txBody>
      </p:sp>
      <p:sp>
        <p:nvSpPr>
          <p:cNvPr id="4" name="Slide Number Placeholder 3"/>
          <p:cNvSpPr>
            <a:spLocks noGrp="1"/>
          </p:cNvSpPr>
          <p:nvPr>
            <p:ph type="sldNum" sz="quarter" idx="12"/>
          </p:nvPr>
        </p:nvSpPr>
        <p:spPr/>
        <p:txBody>
          <a:bodyPr/>
          <a:lstStyle/>
          <a:p>
            <a:fld id="{0E37A6DC-F90C-4641-9A63-957CC63867F2}" type="slidenum">
              <a:rPr lang="en-US" smtClean="0"/>
              <a:t>33</a:t>
            </a:fld>
            <a:endParaRPr lang="en-US"/>
          </a:p>
        </p:txBody>
      </p:sp>
      <p:sp>
        <p:nvSpPr>
          <p:cNvPr id="3" name="Content Placeholder 2"/>
          <p:cNvSpPr>
            <a:spLocks noGrp="1"/>
          </p:cNvSpPr>
          <p:nvPr>
            <p:ph idx="1"/>
          </p:nvPr>
        </p:nvSpPr>
        <p:spPr/>
        <p:txBody>
          <a:bodyPr/>
          <a:lstStyle/>
          <a:p>
            <a:r>
              <a:rPr lang="en-US" dirty="0"/>
              <a:t>Honestly, </a:t>
            </a:r>
            <a:r>
              <a:rPr lang="en-US" b="1" dirty="0"/>
              <a:t>S.O.L.I.D</a:t>
            </a:r>
            <a:r>
              <a:rPr lang="en-US" dirty="0"/>
              <a:t> might seem to be a handful at first, but with continuous usage and adherence to its guidelines, it becomes a part of you and your code which can easily be extended, modified, tested, and refactored without any problems.</a:t>
            </a:r>
          </a:p>
        </p:txBody>
      </p:sp>
    </p:spTree>
    <p:extLst>
      <p:ext uri="{BB962C8B-B14F-4D97-AF65-F5344CB8AC3E}">
        <p14:creationId xmlns:p14="http://schemas.microsoft.com/office/powerpoint/2010/main" val="2038128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1044</TotalTime>
  <Words>1397</Words>
  <Application>Microsoft Office PowerPoint</Application>
  <PresentationFormat>Widescreen</PresentationFormat>
  <Paragraphs>192</Paragraphs>
  <Slides>33</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Century Gothic</vt:lpstr>
      <vt:lpstr>Wingdings 3</vt:lpstr>
      <vt:lpstr>Ion</vt:lpstr>
      <vt:lpstr>JLR P-IVI SOLID</vt:lpstr>
      <vt:lpstr>I. Content</vt:lpstr>
      <vt:lpstr> II. Overview</vt:lpstr>
      <vt:lpstr> III. Detail</vt:lpstr>
      <vt:lpstr>1. Single-responsiblity</vt:lpstr>
      <vt:lpstr>Bad way</vt:lpstr>
      <vt:lpstr>Good way</vt:lpstr>
      <vt:lpstr>Note</vt:lpstr>
      <vt:lpstr>P-IVI application</vt:lpstr>
      <vt:lpstr>Brief</vt:lpstr>
      <vt:lpstr>2. Open-closed Principle</vt:lpstr>
      <vt:lpstr>Bad way</vt:lpstr>
      <vt:lpstr>Good way</vt:lpstr>
      <vt:lpstr>P-IVI application</vt:lpstr>
      <vt:lpstr>Brief</vt:lpstr>
      <vt:lpstr>3. Liskov substitution principle</vt:lpstr>
      <vt:lpstr>Bad way</vt:lpstr>
      <vt:lpstr>Good way</vt:lpstr>
      <vt:lpstr>Bad way</vt:lpstr>
      <vt:lpstr>Good way</vt:lpstr>
      <vt:lpstr>P-IVI application</vt:lpstr>
      <vt:lpstr>Brief</vt:lpstr>
      <vt:lpstr>4. Interface segregation principle</vt:lpstr>
      <vt:lpstr>Bad way</vt:lpstr>
      <vt:lpstr>Good way</vt:lpstr>
      <vt:lpstr>P-IVI application</vt:lpstr>
      <vt:lpstr>Brief</vt:lpstr>
      <vt:lpstr>5. Dependency Inversion</vt:lpstr>
      <vt:lpstr>Bad way</vt:lpstr>
      <vt:lpstr>Good way</vt:lpstr>
      <vt:lpstr>P-IVI application</vt:lpstr>
      <vt:lpstr>Brief</vt:lpstr>
      <vt:lpstr>III. Conclusion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TUNG THANH DAO/LGEVH VC SOFTWARE DEVELOPMENT 1(tung.dao@lge.com)</dc:creator>
  <cp:lastModifiedBy>Trang DoanMinh/LGEVH VS HUMAN RESOURCES(trang.doanminh@lgepartner.com)</cp:lastModifiedBy>
  <cp:revision>106</cp:revision>
  <dcterms:created xsi:type="dcterms:W3CDTF">2017-10-17T07:22:41Z</dcterms:created>
  <dcterms:modified xsi:type="dcterms:W3CDTF">2020-05-25T03:42:35Z</dcterms:modified>
</cp:coreProperties>
</file>